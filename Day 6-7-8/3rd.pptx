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3" r:id="rId4"/>
    <p:sldId id="276" r:id="rId5"/>
    <p:sldId id="275" r:id="rId6"/>
    <p:sldId id="274" r:id="rId7"/>
    <p:sldId id="270" r:id="rId8"/>
    <p:sldId id="271" r:id="rId9"/>
    <p:sldId id="272" r:id="rId10"/>
    <p:sldId id="266" r:id="rId11"/>
    <p:sldId id="258" r:id="rId12"/>
    <p:sldId id="259" r:id="rId13"/>
    <p:sldId id="260" r:id="rId14"/>
    <p:sldId id="261" r:id="rId15"/>
    <p:sldId id="262" r:id="rId16"/>
    <p:sldId id="265" r:id="rId17"/>
    <p:sldId id="264" r:id="rId18"/>
    <p:sldId id="267" r:id="rId19"/>
    <p:sldId id="268" r:id="rId20"/>
    <p:sldId id="269" r:id="rId21"/>
    <p:sldId id="263" r:id="rId22"/>
    <p:sldId id="279" r:id="rId23"/>
    <p:sldId id="280" r:id="rId24"/>
    <p:sldId id="281" r:id="rId25"/>
    <p:sldId id="277" r:id="rId26"/>
    <p:sldId id="278" r:id="rId27"/>
    <p:sldId id="282" r:id="rId28"/>
    <p:sldId id="283" r:id="rId29"/>
    <p:sldId id="285" r:id="rId30"/>
    <p:sldId id="286" r:id="rId31"/>
    <p:sldId id="284"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BB4707-EB0C-44AD-BE96-DDC97B34E6BC}"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7D8A9B71-B729-49E2-84FD-4B7EBD326588}">
      <dgm:prSet phldrT="[Text]"/>
      <dgm:spPr/>
      <dgm:t>
        <a:bodyPr/>
        <a:lstStyle/>
        <a:p>
          <a:r>
            <a:rPr lang="en-IN" b="0" i="0" dirty="0"/>
            <a:t>Second Normal Form (2NF)</a:t>
          </a:r>
          <a:endParaRPr lang="en-IN" dirty="0"/>
        </a:p>
      </dgm:t>
    </dgm:pt>
    <dgm:pt modelId="{85F7695A-B529-415E-884A-35D4F57CC5E6}" type="parTrans" cxnId="{8F5EF6F8-ADB7-461F-AE4B-105248AE1D3E}">
      <dgm:prSet/>
      <dgm:spPr/>
      <dgm:t>
        <a:bodyPr/>
        <a:lstStyle/>
        <a:p>
          <a:endParaRPr lang="en-IN"/>
        </a:p>
      </dgm:t>
    </dgm:pt>
    <dgm:pt modelId="{0E5E069F-0D32-4922-AEB1-0C43E9573558}" type="sibTrans" cxnId="{8F5EF6F8-ADB7-461F-AE4B-105248AE1D3E}">
      <dgm:prSet/>
      <dgm:spPr/>
      <dgm:t>
        <a:bodyPr/>
        <a:lstStyle/>
        <a:p>
          <a:endParaRPr lang="en-IN"/>
        </a:p>
      </dgm:t>
    </dgm:pt>
    <dgm:pt modelId="{48B85AF4-E3B2-455B-8E4F-D39451F0F980}">
      <dgm:prSet phldrT="[Text]"/>
      <dgm:spPr/>
      <dgm:t>
        <a:bodyPr/>
        <a:lstStyle/>
        <a:p>
          <a:r>
            <a:rPr lang="en-IN" b="0" i="0" dirty="0"/>
            <a:t>Third Normal Form (3NF) </a:t>
          </a:r>
          <a:endParaRPr lang="en-IN" dirty="0"/>
        </a:p>
      </dgm:t>
    </dgm:pt>
    <dgm:pt modelId="{755705E7-457A-43AE-9C14-80E5D1C0CD29}" type="parTrans" cxnId="{6E5667E6-FB93-4052-AEA8-9B34C536CD36}">
      <dgm:prSet/>
      <dgm:spPr/>
      <dgm:t>
        <a:bodyPr/>
        <a:lstStyle/>
        <a:p>
          <a:endParaRPr lang="en-IN"/>
        </a:p>
      </dgm:t>
    </dgm:pt>
    <dgm:pt modelId="{963B8CB2-7AA3-4906-B5E2-68B3DD588B95}" type="sibTrans" cxnId="{6E5667E6-FB93-4052-AEA8-9B34C536CD36}">
      <dgm:prSet/>
      <dgm:spPr/>
      <dgm:t>
        <a:bodyPr/>
        <a:lstStyle/>
        <a:p>
          <a:endParaRPr lang="en-IN"/>
        </a:p>
      </dgm:t>
    </dgm:pt>
    <dgm:pt modelId="{F5F3775D-FF20-4A8E-835C-BF03F9558964}">
      <dgm:prSet phldrT="[Text]"/>
      <dgm:spPr/>
      <dgm:t>
        <a:bodyPr/>
        <a:lstStyle/>
        <a:p>
          <a:r>
            <a:rPr lang="en-IN" b="0" i="0" dirty="0"/>
            <a:t>Boyce-Codd Normal Form (BCNF) or 3.5 </a:t>
          </a:r>
          <a:endParaRPr lang="en-IN" dirty="0"/>
        </a:p>
      </dgm:t>
    </dgm:pt>
    <dgm:pt modelId="{397D92CE-4141-49E8-850F-7B5D3B9D5721}" type="parTrans" cxnId="{2205719A-AED4-4BB5-8B95-ADB68A8A87E0}">
      <dgm:prSet/>
      <dgm:spPr/>
      <dgm:t>
        <a:bodyPr/>
        <a:lstStyle/>
        <a:p>
          <a:endParaRPr lang="en-IN"/>
        </a:p>
      </dgm:t>
    </dgm:pt>
    <dgm:pt modelId="{8E82F1A2-18A6-4D22-839D-97D0D8F37482}" type="sibTrans" cxnId="{2205719A-AED4-4BB5-8B95-ADB68A8A87E0}">
      <dgm:prSet/>
      <dgm:spPr/>
      <dgm:t>
        <a:bodyPr/>
        <a:lstStyle/>
        <a:p>
          <a:endParaRPr lang="en-IN"/>
        </a:p>
      </dgm:t>
    </dgm:pt>
    <dgm:pt modelId="{CEC8FEC9-6191-4405-B935-023B041A0080}">
      <dgm:prSet phldrT="[Text]"/>
      <dgm:spPr/>
      <dgm:t>
        <a:bodyPr/>
        <a:lstStyle/>
        <a:p>
          <a:r>
            <a:rPr lang="en-IN" b="0" i="0" dirty="0"/>
            <a:t>First Normal Form (1NF)</a:t>
          </a:r>
          <a:endParaRPr lang="en-IN" dirty="0"/>
        </a:p>
      </dgm:t>
    </dgm:pt>
    <dgm:pt modelId="{8F64371B-B17D-4D92-A969-240772FBA020}" type="parTrans" cxnId="{665750F8-301B-4F3C-9790-95119D051449}">
      <dgm:prSet/>
      <dgm:spPr/>
      <dgm:t>
        <a:bodyPr/>
        <a:lstStyle/>
        <a:p>
          <a:endParaRPr lang="en-IN"/>
        </a:p>
      </dgm:t>
    </dgm:pt>
    <dgm:pt modelId="{6E6A12C9-0BBE-4878-9449-DED1ED167E59}" type="sibTrans" cxnId="{665750F8-301B-4F3C-9790-95119D051449}">
      <dgm:prSet/>
      <dgm:spPr/>
      <dgm:t>
        <a:bodyPr/>
        <a:lstStyle/>
        <a:p>
          <a:endParaRPr lang="en-IN"/>
        </a:p>
      </dgm:t>
    </dgm:pt>
    <dgm:pt modelId="{0F60AF4A-7B35-467B-BF46-9D6FD5F398E6}" type="pres">
      <dgm:prSet presAssocID="{0ABB4707-EB0C-44AD-BE96-DDC97B34E6BC}" presName="Name0" presStyleCnt="0">
        <dgm:presLayoutVars>
          <dgm:chMax val="7"/>
          <dgm:chPref val="7"/>
          <dgm:dir/>
        </dgm:presLayoutVars>
      </dgm:prSet>
      <dgm:spPr/>
    </dgm:pt>
    <dgm:pt modelId="{23E9AD30-027C-4EB0-B394-D9D7F379B749}" type="pres">
      <dgm:prSet presAssocID="{0ABB4707-EB0C-44AD-BE96-DDC97B34E6BC}" presName="Name1" presStyleCnt="0"/>
      <dgm:spPr/>
    </dgm:pt>
    <dgm:pt modelId="{AB2E284C-5A9B-4847-8639-E1736F67DC05}" type="pres">
      <dgm:prSet presAssocID="{0ABB4707-EB0C-44AD-BE96-DDC97B34E6BC}" presName="cycle" presStyleCnt="0"/>
      <dgm:spPr/>
    </dgm:pt>
    <dgm:pt modelId="{FD5EA28F-6D5B-471C-AC4C-23E259CC5DA2}" type="pres">
      <dgm:prSet presAssocID="{0ABB4707-EB0C-44AD-BE96-DDC97B34E6BC}" presName="srcNode" presStyleLbl="node1" presStyleIdx="0" presStyleCnt="4"/>
      <dgm:spPr/>
    </dgm:pt>
    <dgm:pt modelId="{DA87751F-DECF-4D11-8531-BFF0CE01CAA7}" type="pres">
      <dgm:prSet presAssocID="{0ABB4707-EB0C-44AD-BE96-DDC97B34E6BC}" presName="conn" presStyleLbl="parChTrans1D2" presStyleIdx="0" presStyleCnt="1"/>
      <dgm:spPr/>
    </dgm:pt>
    <dgm:pt modelId="{0081C448-AFA6-440F-A433-FFC11489D53B}" type="pres">
      <dgm:prSet presAssocID="{0ABB4707-EB0C-44AD-BE96-DDC97B34E6BC}" presName="extraNode" presStyleLbl="node1" presStyleIdx="0" presStyleCnt="4"/>
      <dgm:spPr/>
    </dgm:pt>
    <dgm:pt modelId="{951AF6AD-1E10-4956-93D6-F2F959D137C9}" type="pres">
      <dgm:prSet presAssocID="{0ABB4707-EB0C-44AD-BE96-DDC97B34E6BC}" presName="dstNode" presStyleLbl="node1" presStyleIdx="0" presStyleCnt="4"/>
      <dgm:spPr/>
    </dgm:pt>
    <dgm:pt modelId="{B5667518-67D0-4BD6-A493-4FE6D77DDCD9}" type="pres">
      <dgm:prSet presAssocID="{CEC8FEC9-6191-4405-B935-023B041A0080}" presName="text_1" presStyleLbl="node1" presStyleIdx="0" presStyleCnt="4">
        <dgm:presLayoutVars>
          <dgm:bulletEnabled val="1"/>
        </dgm:presLayoutVars>
      </dgm:prSet>
      <dgm:spPr/>
    </dgm:pt>
    <dgm:pt modelId="{0340FDE1-48D5-4881-86AF-866A38E7207C}" type="pres">
      <dgm:prSet presAssocID="{CEC8FEC9-6191-4405-B935-023B041A0080}" presName="accent_1" presStyleCnt="0"/>
      <dgm:spPr/>
    </dgm:pt>
    <dgm:pt modelId="{BBC17710-9465-40AA-9B09-83CACE811DF8}" type="pres">
      <dgm:prSet presAssocID="{CEC8FEC9-6191-4405-B935-023B041A0080}" presName="accentRepeatNode" presStyleLbl="solidFgAcc1" presStyleIdx="0" presStyleCnt="4"/>
      <dgm:spPr/>
    </dgm:pt>
    <dgm:pt modelId="{6AE65821-C598-4718-A1E1-FED321FEB85E}" type="pres">
      <dgm:prSet presAssocID="{7D8A9B71-B729-49E2-84FD-4B7EBD326588}" presName="text_2" presStyleLbl="node1" presStyleIdx="1" presStyleCnt="4">
        <dgm:presLayoutVars>
          <dgm:bulletEnabled val="1"/>
        </dgm:presLayoutVars>
      </dgm:prSet>
      <dgm:spPr/>
    </dgm:pt>
    <dgm:pt modelId="{1290B0E2-56A9-4514-9AE0-44D7BD47998F}" type="pres">
      <dgm:prSet presAssocID="{7D8A9B71-B729-49E2-84FD-4B7EBD326588}" presName="accent_2" presStyleCnt="0"/>
      <dgm:spPr/>
    </dgm:pt>
    <dgm:pt modelId="{65C21024-A9B1-40C9-A2D6-40418EFF16A7}" type="pres">
      <dgm:prSet presAssocID="{7D8A9B71-B729-49E2-84FD-4B7EBD326588}" presName="accentRepeatNode" presStyleLbl="solidFgAcc1" presStyleIdx="1" presStyleCnt="4"/>
      <dgm:spPr/>
    </dgm:pt>
    <dgm:pt modelId="{73957206-D769-4CC4-8677-6D0EE7368B53}" type="pres">
      <dgm:prSet presAssocID="{48B85AF4-E3B2-455B-8E4F-D39451F0F980}" presName="text_3" presStyleLbl="node1" presStyleIdx="2" presStyleCnt="4">
        <dgm:presLayoutVars>
          <dgm:bulletEnabled val="1"/>
        </dgm:presLayoutVars>
      </dgm:prSet>
      <dgm:spPr/>
    </dgm:pt>
    <dgm:pt modelId="{0F99093F-FC30-4BE6-8BF1-62C2CF9C86CB}" type="pres">
      <dgm:prSet presAssocID="{48B85AF4-E3B2-455B-8E4F-D39451F0F980}" presName="accent_3" presStyleCnt="0"/>
      <dgm:spPr/>
    </dgm:pt>
    <dgm:pt modelId="{477B5043-841B-41A6-AC54-AB5115BBE308}" type="pres">
      <dgm:prSet presAssocID="{48B85AF4-E3B2-455B-8E4F-D39451F0F980}" presName="accentRepeatNode" presStyleLbl="solidFgAcc1" presStyleIdx="2" presStyleCnt="4"/>
      <dgm:spPr/>
    </dgm:pt>
    <dgm:pt modelId="{00BF9786-AAD1-4A38-B781-23AC478ACCEB}" type="pres">
      <dgm:prSet presAssocID="{F5F3775D-FF20-4A8E-835C-BF03F9558964}" presName="text_4" presStyleLbl="node1" presStyleIdx="3" presStyleCnt="4">
        <dgm:presLayoutVars>
          <dgm:bulletEnabled val="1"/>
        </dgm:presLayoutVars>
      </dgm:prSet>
      <dgm:spPr/>
    </dgm:pt>
    <dgm:pt modelId="{8C9847DC-42A8-427E-8E9A-2C0355DDE76A}" type="pres">
      <dgm:prSet presAssocID="{F5F3775D-FF20-4A8E-835C-BF03F9558964}" presName="accent_4" presStyleCnt="0"/>
      <dgm:spPr/>
    </dgm:pt>
    <dgm:pt modelId="{5934201C-66AD-492B-8A6E-92559C0D53A6}" type="pres">
      <dgm:prSet presAssocID="{F5F3775D-FF20-4A8E-835C-BF03F9558964}" presName="accentRepeatNode" presStyleLbl="solidFgAcc1" presStyleIdx="3" presStyleCnt="4"/>
      <dgm:spPr/>
    </dgm:pt>
  </dgm:ptLst>
  <dgm:cxnLst>
    <dgm:cxn modelId="{8644A218-AF1F-4E8D-8B30-DBF563636025}" type="presOf" srcId="{F5F3775D-FF20-4A8E-835C-BF03F9558964}" destId="{00BF9786-AAD1-4A38-B781-23AC478ACCEB}" srcOrd="0" destOrd="0" presId="urn:microsoft.com/office/officeart/2008/layout/VerticalCurvedList"/>
    <dgm:cxn modelId="{2FE4BF91-9363-4E1D-8894-48626E831E7D}" type="presOf" srcId="{CEC8FEC9-6191-4405-B935-023B041A0080}" destId="{B5667518-67D0-4BD6-A493-4FE6D77DDCD9}" srcOrd="0" destOrd="0" presId="urn:microsoft.com/office/officeart/2008/layout/VerticalCurvedList"/>
    <dgm:cxn modelId="{2205719A-AED4-4BB5-8B95-ADB68A8A87E0}" srcId="{0ABB4707-EB0C-44AD-BE96-DDC97B34E6BC}" destId="{F5F3775D-FF20-4A8E-835C-BF03F9558964}" srcOrd="3" destOrd="0" parTransId="{397D92CE-4141-49E8-850F-7B5D3B9D5721}" sibTransId="{8E82F1A2-18A6-4D22-839D-97D0D8F37482}"/>
    <dgm:cxn modelId="{900CA8C5-6139-4578-A2F9-42A09F014E62}" type="presOf" srcId="{48B85AF4-E3B2-455B-8E4F-D39451F0F980}" destId="{73957206-D769-4CC4-8677-6D0EE7368B53}" srcOrd="0" destOrd="0" presId="urn:microsoft.com/office/officeart/2008/layout/VerticalCurvedList"/>
    <dgm:cxn modelId="{F35960C9-9A9B-46FC-8612-F0966256EB2E}" type="presOf" srcId="{7D8A9B71-B729-49E2-84FD-4B7EBD326588}" destId="{6AE65821-C598-4718-A1E1-FED321FEB85E}" srcOrd="0" destOrd="0" presId="urn:microsoft.com/office/officeart/2008/layout/VerticalCurvedList"/>
    <dgm:cxn modelId="{267C99E5-CDF8-4DE8-9317-C54B2E3013AE}" type="presOf" srcId="{6E6A12C9-0BBE-4878-9449-DED1ED167E59}" destId="{DA87751F-DECF-4D11-8531-BFF0CE01CAA7}" srcOrd="0" destOrd="0" presId="urn:microsoft.com/office/officeart/2008/layout/VerticalCurvedList"/>
    <dgm:cxn modelId="{6E5667E6-FB93-4052-AEA8-9B34C536CD36}" srcId="{0ABB4707-EB0C-44AD-BE96-DDC97B34E6BC}" destId="{48B85AF4-E3B2-455B-8E4F-D39451F0F980}" srcOrd="2" destOrd="0" parTransId="{755705E7-457A-43AE-9C14-80E5D1C0CD29}" sibTransId="{963B8CB2-7AA3-4906-B5E2-68B3DD588B95}"/>
    <dgm:cxn modelId="{AD7890E6-5107-4F15-978B-B4DF99533AFD}" type="presOf" srcId="{0ABB4707-EB0C-44AD-BE96-DDC97B34E6BC}" destId="{0F60AF4A-7B35-467B-BF46-9D6FD5F398E6}" srcOrd="0" destOrd="0" presId="urn:microsoft.com/office/officeart/2008/layout/VerticalCurvedList"/>
    <dgm:cxn modelId="{665750F8-301B-4F3C-9790-95119D051449}" srcId="{0ABB4707-EB0C-44AD-BE96-DDC97B34E6BC}" destId="{CEC8FEC9-6191-4405-B935-023B041A0080}" srcOrd="0" destOrd="0" parTransId="{8F64371B-B17D-4D92-A969-240772FBA020}" sibTransId="{6E6A12C9-0BBE-4878-9449-DED1ED167E59}"/>
    <dgm:cxn modelId="{8F5EF6F8-ADB7-461F-AE4B-105248AE1D3E}" srcId="{0ABB4707-EB0C-44AD-BE96-DDC97B34E6BC}" destId="{7D8A9B71-B729-49E2-84FD-4B7EBD326588}" srcOrd="1" destOrd="0" parTransId="{85F7695A-B529-415E-884A-35D4F57CC5E6}" sibTransId="{0E5E069F-0D32-4922-AEB1-0C43E9573558}"/>
    <dgm:cxn modelId="{0EE64E1F-E0DF-499D-9FBA-3274012995EE}" type="presParOf" srcId="{0F60AF4A-7B35-467B-BF46-9D6FD5F398E6}" destId="{23E9AD30-027C-4EB0-B394-D9D7F379B749}" srcOrd="0" destOrd="0" presId="urn:microsoft.com/office/officeart/2008/layout/VerticalCurvedList"/>
    <dgm:cxn modelId="{C45C7241-F1F8-4AC3-B4E8-3C94CE49D3C4}" type="presParOf" srcId="{23E9AD30-027C-4EB0-B394-D9D7F379B749}" destId="{AB2E284C-5A9B-4847-8639-E1736F67DC05}" srcOrd="0" destOrd="0" presId="urn:microsoft.com/office/officeart/2008/layout/VerticalCurvedList"/>
    <dgm:cxn modelId="{1D19DCB5-95F8-4E91-8656-A60D0760897F}" type="presParOf" srcId="{AB2E284C-5A9B-4847-8639-E1736F67DC05}" destId="{FD5EA28F-6D5B-471C-AC4C-23E259CC5DA2}" srcOrd="0" destOrd="0" presId="urn:microsoft.com/office/officeart/2008/layout/VerticalCurvedList"/>
    <dgm:cxn modelId="{D4576D6C-DA8A-4D28-8C8F-AC61A181A89F}" type="presParOf" srcId="{AB2E284C-5A9B-4847-8639-E1736F67DC05}" destId="{DA87751F-DECF-4D11-8531-BFF0CE01CAA7}" srcOrd="1" destOrd="0" presId="urn:microsoft.com/office/officeart/2008/layout/VerticalCurvedList"/>
    <dgm:cxn modelId="{E3B7FC74-B14D-4CD3-892C-9BD1AFE6EE90}" type="presParOf" srcId="{AB2E284C-5A9B-4847-8639-E1736F67DC05}" destId="{0081C448-AFA6-440F-A433-FFC11489D53B}" srcOrd="2" destOrd="0" presId="urn:microsoft.com/office/officeart/2008/layout/VerticalCurvedList"/>
    <dgm:cxn modelId="{109C6C60-706B-4A46-BF56-0A4A5941D5D5}" type="presParOf" srcId="{AB2E284C-5A9B-4847-8639-E1736F67DC05}" destId="{951AF6AD-1E10-4956-93D6-F2F959D137C9}" srcOrd="3" destOrd="0" presId="urn:microsoft.com/office/officeart/2008/layout/VerticalCurvedList"/>
    <dgm:cxn modelId="{7F475E42-7E46-46F7-ADC2-62E6C2E8E199}" type="presParOf" srcId="{23E9AD30-027C-4EB0-B394-D9D7F379B749}" destId="{B5667518-67D0-4BD6-A493-4FE6D77DDCD9}" srcOrd="1" destOrd="0" presId="urn:microsoft.com/office/officeart/2008/layout/VerticalCurvedList"/>
    <dgm:cxn modelId="{B76745CA-2189-4D76-8A61-1A6A3B85D5C2}" type="presParOf" srcId="{23E9AD30-027C-4EB0-B394-D9D7F379B749}" destId="{0340FDE1-48D5-4881-86AF-866A38E7207C}" srcOrd="2" destOrd="0" presId="urn:microsoft.com/office/officeart/2008/layout/VerticalCurvedList"/>
    <dgm:cxn modelId="{0CF678AB-5596-4019-A4DD-56FEDE5A24AA}" type="presParOf" srcId="{0340FDE1-48D5-4881-86AF-866A38E7207C}" destId="{BBC17710-9465-40AA-9B09-83CACE811DF8}" srcOrd="0" destOrd="0" presId="urn:microsoft.com/office/officeart/2008/layout/VerticalCurvedList"/>
    <dgm:cxn modelId="{E8781D16-D8EF-44FC-8650-4A6F890017B0}" type="presParOf" srcId="{23E9AD30-027C-4EB0-B394-D9D7F379B749}" destId="{6AE65821-C598-4718-A1E1-FED321FEB85E}" srcOrd="3" destOrd="0" presId="urn:microsoft.com/office/officeart/2008/layout/VerticalCurvedList"/>
    <dgm:cxn modelId="{65F82256-09FB-4C76-B292-AF6095713747}" type="presParOf" srcId="{23E9AD30-027C-4EB0-B394-D9D7F379B749}" destId="{1290B0E2-56A9-4514-9AE0-44D7BD47998F}" srcOrd="4" destOrd="0" presId="urn:microsoft.com/office/officeart/2008/layout/VerticalCurvedList"/>
    <dgm:cxn modelId="{B14362D9-A8F3-43D5-AA96-4B2A9EAA0707}" type="presParOf" srcId="{1290B0E2-56A9-4514-9AE0-44D7BD47998F}" destId="{65C21024-A9B1-40C9-A2D6-40418EFF16A7}" srcOrd="0" destOrd="0" presId="urn:microsoft.com/office/officeart/2008/layout/VerticalCurvedList"/>
    <dgm:cxn modelId="{5A9A48F1-3CFA-4E38-AE22-F317D0FF182F}" type="presParOf" srcId="{23E9AD30-027C-4EB0-B394-D9D7F379B749}" destId="{73957206-D769-4CC4-8677-6D0EE7368B53}" srcOrd="5" destOrd="0" presId="urn:microsoft.com/office/officeart/2008/layout/VerticalCurvedList"/>
    <dgm:cxn modelId="{C81FC9F2-AF03-4911-AD08-9AF64EA51204}" type="presParOf" srcId="{23E9AD30-027C-4EB0-B394-D9D7F379B749}" destId="{0F99093F-FC30-4BE6-8BF1-62C2CF9C86CB}" srcOrd="6" destOrd="0" presId="urn:microsoft.com/office/officeart/2008/layout/VerticalCurvedList"/>
    <dgm:cxn modelId="{799C073F-E860-491F-9E56-00F95871A7DE}" type="presParOf" srcId="{0F99093F-FC30-4BE6-8BF1-62C2CF9C86CB}" destId="{477B5043-841B-41A6-AC54-AB5115BBE308}" srcOrd="0" destOrd="0" presId="urn:microsoft.com/office/officeart/2008/layout/VerticalCurvedList"/>
    <dgm:cxn modelId="{34D0E8C7-03BC-46C4-8A17-C213FC1B83D0}" type="presParOf" srcId="{23E9AD30-027C-4EB0-B394-D9D7F379B749}" destId="{00BF9786-AAD1-4A38-B781-23AC478ACCEB}" srcOrd="7" destOrd="0" presId="urn:microsoft.com/office/officeart/2008/layout/VerticalCurvedList"/>
    <dgm:cxn modelId="{7DCE5D46-28EF-488E-A077-1F2C49D190CB}" type="presParOf" srcId="{23E9AD30-027C-4EB0-B394-D9D7F379B749}" destId="{8C9847DC-42A8-427E-8E9A-2C0355DDE76A}" srcOrd="8" destOrd="0" presId="urn:microsoft.com/office/officeart/2008/layout/VerticalCurvedList"/>
    <dgm:cxn modelId="{03343ACA-E64F-4A2C-A51E-2A5B395729B4}" type="presParOf" srcId="{8C9847DC-42A8-427E-8E9A-2C0355DDE76A}" destId="{5934201C-66AD-492B-8A6E-92559C0D53A6}"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87751F-DECF-4D11-8531-BFF0CE01CAA7}">
      <dsp:nvSpPr>
        <dsp:cNvPr id="0" name=""/>
        <dsp:cNvSpPr/>
      </dsp:nvSpPr>
      <dsp:spPr>
        <a:xfrm>
          <a:off x="-4919424" y="-753830"/>
          <a:ext cx="5858998" cy="5858998"/>
        </a:xfrm>
        <a:prstGeom prst="blockArc">
          <a:avLst>
            <a:gd name="adj1" fmla="val 18900000"/>
            <a:gd name="adj2" fmla="val 2700000"/>
            <a:gd name="adj3" fmla="val 369"/>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667518-67D0-4BD6-A493-4FE6D77DDCD9}">
      <dsp:nvSpPr>
        <dsp:cNvPr id="0" name=""/>
        <dsp:cNvSpPr/>
      </dsp:nvSpPr>
      <dsp:spPr>
        <a:xfrm>
          <a:off x="492024" y="334530"/>
          <a:ext cx="9963850" cy="6694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1344" tIns="88900" rIns="88900" bIns="88900" numCol="1" spcCol="1270" anchor="ctr" anchorCtr="0">
          <a:noAutofit/>
        </a:bodyPr>
        <a:lstStyle/>
        <a:p>
          <a:pPr marL="0" lvl="0" indent="0" algn="l" defTabSz="1555750">
            <a:lnSpc>
              <a:spcPct val="90000"/>
            </a:lnSpc>
            <a:spcBef>
              <a:spcPct val="0"/>
            </a:spcBef>
            <a:spcAft>
              <a:spcPct val="35000"/>
            </a:spcAft>
            <a:buNone/>
          </a:pPr>
          <a:r>
            <a:rPr lang="en-IN" sz="3500" b="0" i="0" kern="1200" dirty="0"/>
            <a:t>First Normal Form (1NF)</a:t>
          </a:r>
          <a:endParaRPr lang="en-IN" sz="3500" kern="1200" dirty="0"/>
        </a:p>
      </dsp:txBody>
      <dsp:txXfrm>
        <a:off x="492024" y="334530"/>
        <a:ext cx="9963850" cy="669409"/>
      </dsp:txXfrm>
    </dsp:sp>
    <dsp:sp modelId="{BBC17710-9465-40AA-9B09-83CACE811DF8}">
      <dsp:nvSpPr>
        <dsp:cNvPr id="0" name=""/>
        <dsp:cNvSpPr/>
      </dsp:nvSpPr>
      <dsp:spPr>
        <a:xfrm>
          <a:off x="73643" y="250854"/>
          <a:ext cx="836762" cy="836762"/>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AE65821-C598-4718-A1E1-FED321FEB85E}">
      <dsp:nvSpPr>
        <dsp:cNvPr id="0" name=""/>
        <dsp:cNvSpPr/>
      </dsp:nvSpPr>
      <dsp:spPr>
        <a:xfrm>
          <a:off x="875812" y="1338819"/>
          <a:ext cx="9580062" cy="6694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1344" tIns="88900" rIns="88900" bIns="88900" numCol="1" spcCol="1270" anchor="ctr" anchorCtr="0">
          <a:noAutofit/>
        </a:bodyPr>
        <a:lstStyle/>
        <a:p>
          <a:pPr marL="0" lvl="0" indent="0" algn="l" defTabSz="1555750">
            <a:lnSpc>
              <a:spcPct val="90000"/>
            </a:lnSpc>
            <a:spcBef>
              <a:spcPct val="0"/>
            </a:spcBef>
            <a:spcAft>
              <a:spcPct val="35000"/>
            </a:spcAft>
            <a:buNone/>
          </a:pPr>
          <a:r>
            <a:rPr lang="en-IN" sz="3500" b="0" i="0" kern="1200" dirty="0"/>
            <a:t>Second Normal Form (2NF)</a:t>
          </a:r>
          <a:endParaRPr lang="en-IN" sz="3500" kern="1200" dirty="0"/>
        </a:p>
      </dsp:txBody>
      <dsp:txXfrm>
        <a:off x="875812" y="1338819"/>
        <a:ext cx="9580062" cy="669409"/>
      </dsp:txXfrm>
    </dsp:sp>
    <dsp:sp modelId="{65C21024-A9B1-40C9-A2D6-40418EFF16A7}">
      <dsp:nvSpPr>
        <dsp:cNvPr id="0" name=""/>
        <dsp:cNvSpPr/>
      </dsp:nvSpPr>
      <dsp:spPr>
        <a:xfrm>
          <a:off x="457431" y="1255143"/>
          <a:ext cx="836762" cy="836762"/>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957206-D769-4CC4-8677-6D0EE7368B53}">
      <dsp:nvSpPr>
        <dsp:cNvPr id="0" name=""/>
        <dsp:cNvSpPr/>
      </dsp:nvSpPr>
      <dsp:spPr>
        <a:xfrm>
          <a:off x="875812" y="2343108"/>
          <a:ext cx="9580062" cy="6694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1344" tIns="88900" rIns="88900" bIns="88900" numCol="1" spcCol="1270" anchor="ctr" anchorCtr="0">
          <a:noAutofit/>
        </a:bodyPr>
        <a:lstStyle/>
        <a:p>
          <a:pPr marL="0" lvl="0" indent="0" algn="l" defTabSz="1555750">
            <a:lnSpc>
              <a:spcPct val="90000"/>
            </a:lnSpc>
            <a:spcBef>
              <a:spcPct val="0"/>
            </a:spcBef>
            <a:spcAft>
              <a:spcPct val="35000"/>
            </a:spcAft>
            <a:buNone/>
          </a:pPr>
          <a:r>
            <a:rPr lang="en-IN" sz="3500" b="0" i="0" kern="1200" dirty="0"/>
            <a:t>Third Normal Form (3NF) </a:t>
          </a:r>
          <a:endParaRPr lang="en-IN" sz="3500" kern="1200" dirty="0"/>
        </a:p>
      </dsp:txBody>
      <dsp:txXfrm>
        <a:off x="875812" y="2343108"/>
        <a:ext cx="9580062" cy="669409"/>
      </dsp:txXfrm>
    </dsp:sp>
    <dsp:sp modelId="{477B5043-841B-41A6-AC54-AB5115BBE308}">
      <dsp:nvSpPr>
        <dsp:cNvPr id="0" name=""/>
        <dsp:cNvSpPr/>
      </dsp:nvSpPr>
      <dsp:spPr>
        <a:xfrm>
          <a:off x="457431" y="2259432"/>
          <a:ext cx="836762" cy="836762"/>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0BF9786-AAD1-4A38-B781-23AC478ACCEB}">
      <dsp:nvSpPr>
        <dsp:cNvPr id="0" name=""/>
        <dsp:cNvSpPr/>
      </dsp:nvSpPr>
      <dsp:spPr>
        <a:xfrm>
          <a:off x="492024" y="3347397"/>
          <a:ext cx="9963850" cy="6694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1344" tIns="88900" rIns="88900" bIns="88900" numCol="1" spcCol="1270" anchor="ctr" anchorCtr="0">
          <a:noAutofit/>
        </a:bodyPr>
        <a:lstStyle/>
        <a:p>
          <a:pPr marL="0" lvl="0" indent="0" algn="l" defTabSz="1555750">
            <a:lnSpc>
              <a:spcPct val="90000"/>
            </a:lnSpc>
            <a:spcBef>
              <a:spcPct val="0"/>
            </a:spcBef>
            <a:spcAft>
              <a:spcPct val="35000"/>
            </a:spcAft>
            <a:buNone/>
          </a:pPr>
          <a:r>
            <a:rPr lang="en-IN" sz="3500" b="0" i="0" kern="1200" dirty="0"/>
            <a:t>Boyce-Codd Normal Form (BCNF) or 3.5 </a:t>
          </a:r>
          <a:endParaRPr lang="en-IN" sz="3500" kern="1200" dirty="0"/>
        </a:p>
      </dsp:txBody>
      <dsp:txXfrm>
        <a:off x="492024" y="3347397"/>
        <a:ext cx="9963850" cy="669409"/>
      </dsp:txXfrm>
    </dsp:sp>
    <dsp:sp modelId="{5934201C-66AD-492B-8A6E-92559C0D53A6}">
      <dsp:nvSpPr>
        <dsp:cNvPr id="0" name=""/>
        <dsp:cNvSpPr/>
      </dsp:nvSpPr>
      <dsp:spPr>
        <a:xfrm>
          <a:off x="73643" y="3263721"/>
          <a:ext cx="836762" cy="836762"/>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3DAD-8882-77A2-79F7-93DD706673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3FDC2F-B4A4-80D0-D3BC-BF829DD02A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BD21396-D7DB-17B8-F3EA-8B58989B25E9}"/>
              </a:ext>
            </a:extLst>
          </p:cNvPr>
          <p:cNvSpPr>
            <a:spLocks noGrp="1"/>
          </p:cNvSpPr>
          <p:nvPr>
            <p:ph type="dt" sz="half" idx="10"/>
          </p:nvPr>
        </p:nvSpPr>
        <p:spPr/>
        <p:txBody>
          <a:bodyPr/>
          <a:lstStyle/>
          <a:p>
            <a:fld id="{9C8117CC-9A53-4EC5-91CA-711602A505B7}" type="datetimeFigureOut">
              <a:rPr lang="en-IN" smtClean="0"/>
              <a:t>04-12-2023</a:t>
            </a:fld>
            <a:endParaRPr lang="en-IN"/>
          </a:p>
        </p:txBody>
      </p:sp>
      <p:sp>
        <p:nvSpPr>
          <p:cNvPr id="5" name="Footer Placeholder 4">
            <a:extLst>
              <a:ext uri="{FF2B5EF4-FFF2-40B4-BE49-F238E27FC236}">
                <a16:creationId xmlns:a16="http://schemas.microsoft.com/office/drawing/2014/main" id="{05BD98DF-F007-289D-BD84-9DABC1490E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E8C48E-BBF3-C740-BBE8-666ECE1D52A0}"/>
              </a:ext>
            </a:extLst>
          </p:cNvPr>
          <p:cNvSpPr>
            <a:spLocks noGrp="1"/>
          </p:cNvSpPr>
          <p:nvPr>
            <p:ph type="sldNum" sz="quarter" idx="12"/>
          </p:nvPr>
        </p:nvSpPr>
        <p:spPr/>
        <p:txBody>
          <a:bodyPr/>
          <a:lstStyle/>
          <a:p>
            <a:fld id="{51AB1972-7386-4F18-9070-94B2420CD2F4}" type="slidenum">
              <a:rPr lang="en-IN" smtClean="0"/>
              <a:t>‹#›</a:t>
            </a:fld>
            <a:endParaRPr lang="en-IN"/>
          </a:p>
        </p:txBody>
      </p:sp>
    </p:spTree>
    <p:extLst>
      <p:ext uri="{BB962C8B-B14F-4D97-AF65-F5344CB8AC3E}">
        <p14:creationId xmlns:p14="http://schemas.microsoft.com/office/powerpoint/2010/main" val="3873597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B61-014E-9305-5A51-B22967B4DD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F91E8D-8A45-C335-E751-0DD95B493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13990D-49CB-3254-6B8C-CEFF548786BF}"/>
              </a:ext>
            </a:extLst>
          </p:cNvPr>
          <p:cNvSpPr>
            <a:spLocks noGrp="1"/>
          </p:cNvSpPr>
          <p:nvPr>
            <p:ph type="dt" sz="half" idx="10"/>
          </p:nvPr>
        </p:nvSpPr>
        <p:spPr/>
        <p:txBody>
          <a:bodyPr/>
          <a:lstStyle/>
          <a:p>
            <a:fld id="{9C8117CC-9A53-4EC5-91CA-711602A505B7}" type="datetimeFigureOut">
              <a:rPr lang="en-IN" smtClean="0"/>
              <a:t>04-12-2023</a:t>
            </a:fld>
            <a:endParaRPr lang="en-IN"/>
          </a:p>
        </p:txBody>
      </p:sp>
      <p:sp>
        <p:nvSpPr>
          <p:cNvPr id="5" name="Footer Placeholder 4">
            <a:extLst>
              <a:ext uri="{FF2B5EF4-FFF2-40B4-BE49-F238E27FC236}">
                <a16:creationId xmlns:a16="http://schemas.microsoft.com/office/drawing/2014/main" id="{B342AB6C-765F-EC83-75F1-CA253D7DB5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38AB38-D1EB-320D-2483-A4D03F880479}"/>
              </a:ext>
            </a:extLst>
          </p:cNvPr>
          <p:cNvSpPr>
            <a:spLocks noGrp="1"/>
          </p:cNvSpPr>
          <p:nvPr>
            <p:ph type="sldNum" sz="quarter" idx="12"/>
          </p:nvPr>
        </p:nvSpPr>
        <p:spPr/>
        <p:txBody>
          <a:bodyPr/>
          <a:lstStyle/>
          <a:p>
            <a:fld id="{51AB1972-7386-4F18-9070-94B2420CD2F4}" type="slidenum">
              <a:rPr lang="en-IN" smtClean="0"/>
              <a:t>‹#›</a:t>
            </a:fld>
            <a:endParaRPr lang="en-IN"/>
          </a:p>
        </p:txBody>
      </p:sp>
    </p:spTree>
    <p:extLst>
      <p:ext uri="{BB962C8B-B14F-4D97-AF65-F5344CB8AC3E}">
        <p14:creationId xmlns:p14="http://schemas.microsoft.com/office/powerpoint/2010/main" val="2480338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7326C-DDCC-1007-40B9-20EB73A729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C24D2F-70B4-20F8-A33C-80BFBAEB85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EB8B1B-1B30-9E8D-BFD6-ECA5CAF34F05}"/>
              </a:ext>
            </a:extLst>
          </p:cNvPr>
          <p:cNvSpPr>
            <a:spLocks noGrp="1"/>
          </p:cNvSpPr>
          <p:nvPr>
            <p:ph type="dt" sz="half" idx="10"/>
          </p:nvPr>
        </p:nvSpPr>
        <p:spPr/>
        <p:txBody>
          <a:bodyPr/>
          <a:lstStyle/>
          <a:p>
            <a:fld id="{9C8117CC-9A53-4EC5-91CA-711602A505B7}" type="datetimeFigureOut">
              <a:rPr lang="en-IN" smtClean="0"/>
              <a:t>04-12-2023</a:t>
            </a:fld>
            <a:endParaRPr lang="en-IN"/>
          </a:p>
        </p:txBody>
      </p:sp>
      <p:sp>
        <p:nvSpPr>
          <p:cNvPr id="5" name="Footer Placeholder 4">
            <a:extLst>
              <a:ext uri="{FF2B5EF4-FFF2-40B4-BE49-F238E27FC236}">
                <a16:creationId xmlns:a16="http://schemas.microsoft.com/office/drawing/2014/main" id="{0D4E0C44-606F-7F85-87C8-3471BD5179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6708D1-B91E-F56A-0E53-CEC6209D5FF7}"/>
              </a:ext>
            </a:extLst>
          </p:cNvPr>
          <p:cNvSpPr>
            <a:spLocks noGrp="1"/>
          </p:cNvSpPr>
          <p:nvPr>
            <p:ph type="sldNum" sz="quarter" idx="12"/>
          </p:nvPr>
        </p:nvSpPr>
        <p:spPr/>
        <p:txBody>
          <a:bodyPr/>
          <a:lstStyle/>
          <a:p>
            <a:fld id="{51AB1972-7386-4F18-9070-94B2420CD2F4}" type="slidenum">
              <a:rPr lang="en-IN" smtClean="0"/>
              <a:t>‹#›</a:t>
            </a:fld>
            <a:endParaRPr lang="en-IN"/>
          </a:p>
        </p:txBody>
      </p:sp>
    </p:spTree>
    <p:extLst>
      <p:ext uri="{BB962C8B-B14F-4D97-AF65-F5344CB8AC3E}">
        <p14:creationId xmlns:p14="http://schemas.microsoft.com/office/powerpoint/2010/main" val="1593828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97FAA-672E-3C05-1B42-D7F62F1BE8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521358-8741-B371-597F-E66D483AA4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1F3B84-E34D-84D0-80EC-8B0DC5D09A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19F0494-DF97-CF75-AF06-E9B3B308010B}"/>
              </a:ext>
            </a:extLst>
          </p:cNvPr>
          <p:cNvSpPr>
            <a:spLocks noGrp="1"/>
          </p:cNvSpPr>
          <p:nvPr>
            <p:ph type="dt" sz="half" idx="10"/>
          </p:nvPr>
        </p:nvSpPr>
        <p:spPr/>
        <p:txBody>
          <a:bodyPr/>
          <a:lstStyle/>
          <a:p>
            <a:fld id="{9C8117CC-9A53-4EC5-91CA-711602A505B7}" type="datetimeFigureOut">
              <a:rPr lang="en-IN" smtClean="0"/>
              <a:t>04-12-2023</a:t>
            </a:fld>
            <a:endParaRPr lang="en-IN"/>
          </a:p>
        </p:txBody>
      </p:sp>
      <p:sp>
        <p:nvSpPr>
          <p:cNvPr id="6" name="Footer Placeholder 5">
            <a:extLst>
              <a:ext uri="{FF2B5EF4-FFF2-40B4-BE49-F238E27FC236}">
                <a16:creationId xmlns:a16="http://schemas.microsoft.com/office/drawing/2014/main" id="{53BCBB5E-7AAE-49A2-CD9C-FC6519BDBE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E0B84E-774A-6BEB-B8D6-E21E843F1807}"/>
              </a:ext>
            </a:extLst>
          </p:cNvPr>
          <p:cNvSpPr>
            <a:spLocks noGrp="1"/>
          </p:cNvSpPr>
          <p:nvPr>
            <p:ph type="sldNum" sz="quarter" idx="12"/>
          </p:nvPr>
        </p:nvSpPr>
        <p:spPr/>
        <p:txBody>
          <a:bodyPr/>
          <a:lstStyle/>
          <a:p>
            <a:fld id="{51AB1972-7386-4F18-9070-94B2420CD2F4}" type="slidenum">
              <a:rPr lang="en-IN" smtClean="0"/>
              <a:t>‹#›</a:t>
            </a:fld>
            <a:endParaRPr lang="en-IN"/>
          </a:p>
        </p:txBody>
      </p:sp>
    </p:spTree>
    <p:extLst>
      <p:ext uri="{BB962C8B-B14F-4D97-AF65-F5344CB8AC3E}">
        <p14:creationId xmlns:p14="http://schemas.microsoft.com/office/powerpoint/2010/main" val="465116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8CFC6-FAF6-0F5F-D63A-448ABF2C62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66CD99-78BE-C333-057A-216E472B43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85D756-3F82-196C-C9B0-6FE59968B8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C329F8-38D1-F925-C6F5-3822127DA0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359D57-77B0-26CB-839B-D9D1289149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64C4B0-0956-7B76-C105-0DA66A3C1C44}"/>
              </a:ext>
            </a:extLst>
          </p:cNvPr>
          <p:cNvSpPr>
            <a:spLocks noGrp="1"/>
          </p:cNvSpPr>
          <p:nvPr>
            <p:ph type="dt" sz="half" idx="10"/>
          </p:nvPr>
        </p:nvSpPr>
        <p:spPr/>
        <p:txBody>
          <a:bodyPr/>
          <a:lstStyle/>
          <a:p>
            <a:fld id="{9C8117CC-9A53-4EC5-91CA-711602A505B7}" type="datetimeFigureOut">
              <a:rPr lang="en-IN" smtClean="0"/>
              <a:t>04-12-2023</a:t>
            </a:fld>
            <a:endParaRPr lang="en-IN"/>
          </a:p>
        </p:txBody>
      </p:sp>
      <p:sp>
        <p:nvSpPr>
          <p:cNvPr id="8" name="Footer Placeholder 7">
            <a:extLst>
              <a:ext uri="{FF2B5EF4-FFF2-40B4-BE49-F238E27FC236}">
                <a16:creationId xmlns:a16="http://schemas.microsoft.com/office/drawing/2014/main" id="{8F6EB499-FC94-A5DD-2BD8-01603622572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DC0140-2013-10A4-5E9B-74F34D867D94}"/>
              </a:ext>
            </a:extLst>
          </p:cNvPr>
          <p:cNvSpPr>
            <a:spLocks noGrp="1"/>
          </p:cNvSpPr>
          <p:nvPr>
            <p:ph type="sldNum" sz="quarter" idx="12"/>
          </p:nvPr>
        </p:nvSpPr>
        <p:spPr/>
        <p:txBody>
          <a:bodyPr/>
          <a:lstStyle/>
          <a:p>
            <a:fld id="{51AB1972-7386-4F18-9070-94B2420CD2F4}" type="slidenum">
              <a:rPr lang="en-IN" smtClean="0"/>
              <a:t>‹#›</a:t>
            </a:fld>
            <a:endParaRPr lang="en-IN"/>
          </a:p>
        </p:txBody>
      </p:sp>
    </p:spTree>
    <p:extLst>
      <p:ext uri="{BB962C8B-B14F-4D97-AF65-F5344CB8AC3E}">
        <p14:creationId xmlns:p14="http://schemas.microsoft.com/office/powerpoint/2010/main" val="1778015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6DEC6-439F-B45C-6837-78BD07E3F7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454C91-1168-1533-9D97-17CD57D1CF21}"/>
              </a:ext>
            </a:extLst>
          </p:cNvPr>
          <p:cNvSpPr>
            <a:spLocks noGrp="1"/>
          </p:cNvSpPr>
          <p:nvPr>
            <p:ph type="dt" sz="half" idx="10"/>
          </p:nvPr>
        </p:nvSpPr>
        <p:spPr/>
        <p:txBody>
          <a:bodyPr/>
          <a:lstStyle/>
          <a:p>
            <a:fld id="{9C8117CC-9A53-4EC5-91CA-711602A505B7}" type="datetimeFigureOut">
              <a:rPr lang="en-IN" smtClean="0"/>
              <a:t>04-12-2023</a:t>
            </a:fld>
            <a:endParaRPr lang="en-IN"/>
          </a:p>
        </p:txBody>
      </p:sp>
      <p:sp>
        <p:nvSpPr>
          <p:cNvPr id="4" name="Footer Placeholder 3">
            <a:extLst>
              <a:ext uri="{FF2B5EF4-FFF2-40B4-BE49-F238E27FC236}">
                <a16:creationId xmlns:a16="http://schemas.microsoft.com/office/drawing/2014/main" id="{950BAE33-4ED4-6CDC-9227-0B3F75F571F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9F0465-7712-19ED-E418-C08EF5ED0F6D}"/>
              </a:ext>
            </a:extLst>
          </p:cNvPr>
          <p:cNvSpPr>
            <a:spLocks noGrp="1"/>
          </p:cNvSpPr>
          <p:nvPr>
            <p:ph type="sldNum" sz="quarter" idx="12"/>
          </p:nvPr>
        </p:nvSpPr>
        <p:spPr/>
        <p:txBody>
          <a:bodyPr/>
          <a:lstStyle/>
          <a:p>
            <a:fld id="{51AB1972-7386-4F18-9070-94B2420CD2F4}" type="slidenum">
              <a:rPr lang="en-IN" smtClean="0"/>
              <a:t>‹#›</a:t>
            </a:fld>
            <a:endParaRPr lang="en-IN"/>
          </a:p>
        </p:txBody>
      </p:sp>
    </p:spTree>
    <p:extLst>
      <p:ext uri="{BB962C8B-B14F-4D97-AF65-F5344CB8AC3E}">
        <p14:creationId xmlns:p14="http://schemas.microsoft.com/office/powerpoint/2010/main" val="1236991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4182D2-114B-156A-4358-9B362FD330C1}"/>
              </a:ext>
            </a:extLst>
          </p:cNvPr>
          <p:cNvSpPr>
            <a:spLocks noGrp="1"/>
          </p:cNvSpPr>
          <p:nvPr>
            <p:ph type="dt" sz="half" idx="10"/>
          </p:nvPr>
        </p:nvSpPr>
        <p:spPr/>
        <p:txBody>
          <a:bodyPr/>
          <a:lstStyle/>
          <a:p>
            <a:fld id="{9C8117CC-9A53-4EC5-91CA-711602A505B7}" type="datetimeFigureOut">
              <a:rPr lang="en-IN" smtClean="0"/>
              <a:t>04-12-2023</a:t>
            </a:fld>
            <a:endParaRPr lang="en-IN"/>
          </a:p>
        </p:txBody>
      </p:sp>
      <p:sp>
        <p:nvSpPr>
          <p:cNvPr id="3" name="Footer Placeholder 2">
            <a:extLst>
              <a:ext uri="{FF2B5EF4-FFF2-40B4-BE49-F238E27FC236}">
                <a16:creationId xmlns:a16="http://schemas.microsoft.com/office/drawing/2014/main" id="{7DF3342B-8A35-DB81-68D9-E97B0A3B8EF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498690-AA8D-C7C5-BA7E-31114AB21130}"/>
              </a:ext>
            </a:extLst>
          </p:cNvPr>
          <p:cNvSpPr>
            <a:spLocks noGrp="1"/>
          </p:cNvSpPr>
          <p:nvPr>
            <p:ph type="sldNum" sz="quarter" idx="12"/>
          </p:nvPr>
        </p:nvSpPr>
        <p:spPr/>
        <p:txBody>
          <a:bodyPr/>
          <a:lstStyle/>
          <a:p>
            <a:fld id="{51AB1972-7386-4F18-9070-94B2420CD2F4}" type="slidenum">
              <a:rPr lang="en-IN" smtClean="0"/>
              <a:t>‹#›</a:t>
            </a:fld>
            <a:endParaRPr lang="en-IN"/>
          </a:p>
        </p:txBody>
      </p:sp>
    </p:spTree>
    <p:extLst>
      <p:ext uri="{BB962C8B-B14F-4D97-AF65-F5344CB8AC3E}">
        <p14:creationId xmlns:p14="http://schemas.microsoft.com/office/powerpoint/2010/main" val="1784796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11C4F-CBAC-9F67-CF57-7AFDD08A87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9A03ABE-C510-6229-58DA-88EA551FB6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6642335-2451-42AF-3BA4-4A904670CD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F9EB33-A125-99A8-65D6-9CDCF956BDC5}"/>
              </a:ext>
            </a:extLst>
          </p:cNvPr>
          <p:cNvSpPr>
            <a:spLocks noGrp="1"/>
          </p:cNvSpPr>
          <p:nvPr>
            <p:ph type="dt" sz="half" idx="10"/>
          </p:nvPr>
        </p:nvSpPr>
        <p:spPr/>
        <p:txBody>
          <a:bodyPr/>
          <a:lstStyle/>
          <a:p>
            <a:fld id="{9C8117CC-9A53-4EC5-91CA-711602A505B7}" type="datetimeFigureOut">
              <a:rPr lang="en-IN" smtClean="0"/>
              <a:t>04-12-2023</a:t>
            </a:fld>
            <a:endParaRPr lang="en-IN"/>
          </a:p>
        </p:txBody>
      </p:sp>
      <p:sp>
        <p:nvSpPr>
          <p:cNvPr id="6" name="Footer Placeholder 5">
            <a:extLst>
              <a:ext uri="{FF2B5EF4-FFF2-40B4-BE49-F238E27FC236}">
                <a16:creationId xmlns:a16="http://schemas.microsoft.com/office/drawing/2014/main" id="{52AA27AE-144B-B88F-5C63-1880C0AC52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6BABA5-4234-D448-AC4C-E5F06F154D41}"/>
              </a:ext>
            </a:extLst>
          </p:cNvPr>
          <p:cNvSpPr>
            <a:spLocks noGrp="1"/>
          </p:cNvSpPr>
          <p:nvPr>
            <p:ph type="sldNum" sz="quarter" idx="12"/>
          </p:nvPr>
        </p:nvSpPr>
        <p:spPr/>
        <p:txBody>
          <a:bodyPr/>
          <a:lstStyle/>
          <a:p>
            <a:fld id="{51AB1972-7386-4F18-9070-94B2420CD2F4}" type="slidenum">
              <a:rPr lang="en-IN" smtClean="0"/>
              <a:t>‹#›</a:t>
            </a:fld>
            <a:endParaRPr lang="en-IN"/>
          </a:p>
        </p:txBody>
      </p:sp>
    </p:spTree>
    <p:extLst>
      <p:ext uri="{BB962C8B-B14F-4D97-AF65-F5344CB8AC3E}">
        <p14:creationId xmlns:p14="http://schemas.microsoft.com/office/powerpoint/2010/main" val="1450555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491D3-3A23-E268-E090-608E791115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0161345-6DA5-8EC8-4A1B-76C1B2D978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567C49-1770-F69C-B223-93DE57C0DD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F4D02-4C8E-2566-40A7-794C3B13C1D7}"/>
              </a:ext>
            </a:extLst>
          </p:cNvPr>
          <p:cNvSpPr>
            <a:spLocks noGrp="1"/>
          </p:cNvSpPr>
          <p:nvPr>
            <p:ph type="dt" sz="half" idx="10"/>
          </p:nvPr>
        </p:nvSpPr>
        <p:spPr/>
        <p:txBody>
          <a:bodyPr/>
          <a:lstStyle/>
          <a:p>
            <a:fld id="{9C8117CC-9A53-4EC5-91CA-711602A505B7}" type="datetimeFigureOut">
              <a:rPr lang="en-IN" smtClean="0"/>
              <a:t>04-12-2023</a:t>
            </a:fld>
            <a:endParaRPr lang="en-IN"/>
          </a:p>
        </p:txBody>
      </p:sp>
      <p:sp>
        <p:nvSpPr>
          <p:cNvPr id="6" name="Footer Placeholder 5">
            <a:extLst>
              <a:ext uri="{FF2B5EF4-FFF2-40B4-BE49-F238E27FC236}">
                <a16:creationId xmlns:a16="http://schemas.microsoft.com/office/drawing/2014/main" id="{2144D167-8F7A-DAA0-DB3A-53C1D681D3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B58EE0-552C-FB4E-CA31-9E30F7CE2D82}"/>
              </a:ext>
            </a:extLst>
          </p:cNvPr>
          <p:cNvSpPr>
            <a:spLocks noGrp="1"/>
          </p:cNvSpPr>
          <p:nvPr>
            <p:ph type="sldNum" sz="quarter" idx="12"/>
          </p:nvPr>
        </p:nvSpPr>
        <p:spPr/>
        <p:txBody>
          <a:bodyPr/>
          <a:lstStyle/>
          <a:p>
            <a:fld id="{51AB1972-7386-4F18-9070-94B2420CD2F4}" type="slidenum">
              <a:rPr lang="en-IN" smtClean="0"/>
              <a:t>‹#›</a:t>
            </a:fld>
            <a:endParaRPr lang="en-IN"/>
          </a:p>
        </p:txBody>
      </p:sp>
    </p:spTree>
    <p:extLst>
      <p:ext uri="{BB962C8B-B14F-4D97-AF65-F5344CB8AC3E}">
        <p14:creationId xmlns:p14="http://schemas.microsoft.com/office/powerpoint/2010/main" val="3922370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96975-DF9C-39E6-0001-20B6E7C7CC8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2CDBED-7FF8-2EDD-1F63-B6D6A501EE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C7782B-D437-FFC7-48CE-85DC02EB0C6F}"/>
              </a:ext>
            </a:extLst>
          </p:cNvPr>
          <p:cNvSpPr>
            <a:spLocks noGrp="1"/>
          </p:cNvSpPr>
          <p:nvPr>
            <p:ph type="dt" sz="half" idx="10"/>
          </p:nvPr>
        </p:nvSpPr>
        <p:spPr/>
        <p:txBody>
          <a:bodyPr/>
          <a:lstStyle/>
          <a:p>
            <a:fld id="{9C8117CC-9A53-4EC5-91CA-711602A505B7}" type="datetimeFigureOut">
              <a:rPr lang="en-IN" smtClean="0"/>
              <a:t>04-12-2023</a:t>
            </a:fld>
            <a:endParaRPr lang="en-IN"/>
          </a:p>
        </p:txBody>
      </p:sp>
      <p:sp>
        <p:nvSpPr>
          <p:cNvPr id="5" name="Footer Placeholder 4">
            <a:extLst>
              <a:ext uri="{FF2B5EF4-FFF2-40B4-BE49-F238E27FC236}">
                <a16:creationId xmlns:a16="http://schemas.microsoft.com/office/drawing/2014/main" id="{4E2AC371-FC1C-DFCB-2127-F85FEEA4DC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BC9645-24EB-3E39-10A2-69B36B52EE83}"/>
              </a:ext>
            </a:extLst>
          </p:cNvPr>
          <p:cNvSpPr>
            <a:spLocks noGrp="1"/>
          </p:cNvSpPr>
          <p:nvPr>
            <p:ph type="sldNum" sz="quarter" idx="12"/>
          </p:nvPr>
        </p:nvSpPr>
        <p:spPr/>
        <p:txBody>
          <a:bodyPr/>
          <a:lstStyle/>
          <a:p>
            <a:fld id="{51AB1972-7386-4F18-9070-94B2420CD2F4}" type="slidenum">
              <a:rPr lang="en-IN" smtClean="0"/>
              <a:t>‹#›</a:t>
            </a:fld>
            <a:endParaRPr lang="en-IN"/>
          </a:p>
        </p:txBody>
      </p:sp>
    </p:spTree>
    <p:extLst>
      <p:ext uri="{BB962C8B-B14F-4D97-AF65-F5344CB8AC3E}">
        <p14:creationId xmlns:p14="http://schemas.microsoft.com/office/powerpoint/2010/main" val="2652418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9162C-036F-59C5-7B87-1AEDC160BF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9F0443-5213-E80A-13E3-DA3E3D03FC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986104-FD09-06F0-49B5-FC9244400626}"/>
              </a:ext>
            </a:extLst>
          </p:cNvPr>
          <p:cNvSpPr>
            <a:spLocks noGrp="1"/>
          </p:cNvSpPr>
          <p:nvPr>
            <p:ph type="dt" sz="half" idx="10"/>
          </p:nvPr>
        </p:nvSpPr>
        <p:spPr/>
        <p:txBody>
          <a:bodyPr/>
          <a:lstStyle/>
          <a:p>
            <a:fld id="{9C8117CC-9A53-4EC5-91CA-711602A505B7}" type="datetimeFigureOut">
              <a:rPr lang="en-IN" smtClean="0"/>
              <a:t>04-12-2023</a:t>
            </a:fld>
            <a:endParaRPr lang="en-IN"/>
          </a:p>
        </p:txBody>
      </p:sp>
      <p:sp>
        <p:nvSpPr>
          <p:cNvPr id="5" name="Footer Placeholder 4">
            <a:extLst>
              <a:ext uri="{FF2B5EF4-FFF2-40B4-BE49-F238E27FC236}">
                <a16:creationId xmlns:a16="http://schemas.microsoft.com/office/drawing/2014/main" id="{8CE72889-EAB8-4B2A-7437-F9127A1A76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7106B4-82DA-986D-C87E-AA7ED35F59D1}"/>
              </a:ext>
            </a:extLst>
          </p:cNvPr>
          <p:cNvSpPr>
            <a:spLocks noGrp="1"/>
          </p:cNvSpPr>
          <p:nvPr>
            <p:ph type="sldNum" sz="quarter" idx="12"/>
          </p:nvPr>
        </p:nvSpPr>
        <p:spPr/>
        <p:txBody>
          <a:bodyPr/>
          <a:lstStyle/>
          <a:p>
            <a:fld id="{51AB1972-7386-4F18-9070-94B2420CD2F4}" type="slidenum">
              <a:rPr lang="en-IN" smtClean="0"/>
              <a:t>‹#›</a:t>
            </a:fld>
            <a:endParaRPr lang="en-IN"/>
          </a:p>
        </p:txBody>
      </p:sp>
    </p:spTree>
    <p:extLst>
      <p:ext uri="{BB962C8B-B14F-4D97-AF65-F5344CB8AC3E}">
        <p14:creationId xmlns:p14="http://schemas.microsoft.com/office/powerpoint/2010/main" val="3914193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A7DC06-26A1-74E4-3E0D-B8075F7711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2A228B-BD3A-1364-E0E7-8C0F7BF139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143328-03C7-2262-BF39-A4626232D0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8117CC-9A53-4EC5-91CA-711602A505B7}" type="datetimeFigureOut">
              <a:rPr lang="en-IN" smtClean="0"/>
              <a:t>04-12-2023</a:t>
            </a:fld>
            <a:endParaRPr lang="en-IN"/>
          </a:p>
        </p:txBody>
      </p:sp>
      <p:sp>
        <p:nvSpPr>
          <p:cNvPr id="5" name="Footer Placeholder 4">
            <a:extLst>
              <a:ext uri="{FF2B5EF4-FFF2-40B4-BE49-F238E27FC236}">
                <a16:creationId xmlns:a16="http://schemas.microsoft.com/office/drawing/2014/main" id="{972C520C-896E-0DFD-8BD9-ED7826C0E7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465B8FA-2020-4DEC-9A92-4B177DBAB8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B1972-7386-4F18-9070-94B2420CD2F4}" type="slidenum">
              <a:rPr lang="en-IN" smtClean="0"/>
              <a:t>‹#›</a:t>
            </a:fld>
            <a:endParaRPr lang="en-IN"/>
          </a:p>
        </p:txBody>
      </p:sp>
    </p:spTree>
    <p:extLst>
      <p:ext uri="{BB962C8B-B14F-4D97-AF65-F5344CB8AC3E}">
        <p14:creationId xmlns:p14="http://schemas.microsoft.com/office/powerpoint/2010/main" val="3505979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906B9-DF59-7485-CA66-279BD79B9F2F}"/>
              </a:ext>
            </a:extLst>
          </p:cNvPr>
          <p:cNvSpPr>
            <a:spLocks noGrp="1"/>
          </p:cNvSpPr>
          <p:nvPr>
            <p:ph type="ctrTitle"/>
          </p:nvPr>
        </p:nvSpPr>
        <p:spPr/>
        <p:txBody>
          <a:bodyPr/>
          <a:lstStyle/>
          <a:p>
            <a:r>
              <a:rPr lang="en-IN" dirty="0"/>
              <a:t>Data analytics</a:t>
            </a:r>
          </a:p>
        </p:txBody>
      </p:sp>
      <p:sp>
        <p:nvSpPr>
          <p:cNvPr id="3" name="Subtitle 2">
            <a:extLst>
              <a:ext uri="{FF2B5EF4-FFF2-40B4-BE49-F238E27FC236}">
                <a16:creationId xmlns:a16="http://schemas.microsoft.com/office/drawing/2014/main" id="{B9C5E2EB-8195-2056-0237-B01556A2DB7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11310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543BE-EBAA-62E4-FDDF-FB5CAD0E9B09}"/>
              </a:ext>
            </a:extLst>
          </p:cNvPr>
          <p:cNvSpPr>
            <a:spLocks noGrp="1"/>
          </p:cNvSpPr>
          <p:nvPr>
            <p:ph type="title"/>
          </p:nvPr>
        </p:nvSpPr>
        <p:spPr/>
        <p:txBody>
          <a:bodyPr/>
          <a:lstStyle/>
          <a:p>
            <a:r>
              <a:rPr lang="en-IN" dirty="0"/>
              <a:t>Normalization</a:t>
            </a:r>
          </a:p>
        </p:txBody>
      </p:sp>
      <p:graphicFrame>
        <p:nvGraphicFramePr>
          <p:cNvPr id="4" name="Content Placeholder 2">
            <a:extLst>
              <a:ext uri="{FF2B5EF4-FFF2-40B4-BE49-F238E27FC236}">
                <a16:creationId xmlns:a16="http://schemas.microsoft.com/office/drawing/2014/main" id="{8F347ED1-FC9D-650B-7DFE-1C1299F60D44}"/>
              </a:ext>
            </a:extLst>
          </p:cNvPr>
          <p:cNvGraphicFramePr>
            <a:graphicFrameLocks noGrp="1"/>
          </p:cNvGraphicFramePr>
          <p:nvPr>
            <p:ph idx="1"/>
            <p:extLst>
              <p:ext uri="{D42A27DB-BD31-4B8C-83A1-F6EECF244321}">
                <p14:modId xmlns:p14="http://schemas.microsoft.com/office/powerpoint/2010/main" val="337948283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351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04AC1-9295-FF25-7C18-21F2064A3E1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E897F52-5E81-8947-7354-DBE03DF9ACA5}"/>
              </a:ext>
            </a:extLst>
          </p:cNvPr>
          <p:cNvSpPr>
            <a:spLocks noGrp="1"/>
          </p:cNvSpPr>
          <p:nvPr>
            <p:ph idx="1"/>
          </p:nvPr>
        </p:nvSpPr>
        <p:spPr/>
        <p:txBody>
          <a:bodyPr>
            <a:normAutofit/>
          </a:bodyPr>
          <a:lstStyle/>
          <a:p>
            <a:pPr marL="0" indent="0" algn="l">
              <a:buNone/>
            </a:pPr>
            <a:r>
              <a:rPr lang="en-IN" b="1" i="0" dirty="0">
                <a:effectLst/>
                <a:latin typeface="Söhne"/>
              </a:rPr>
              <a:t>Data Model Schema</a:t>
            </a:r>
            <a:r>
              <a:rPr lang="en-IN" b="0" i="0" dirty="0">
                <a:effectLst/>
                <a:latin typeface="Söhne"/>
              </a:rPr>
              <a:t>:</a:t>
            </a:r>
          </a:p>
          <a:p>
            <a:pPr marL="0" indent="0" algn="l">
              <a:buNone/>
            </a:pPr>
            <a:endParaRPr lang="en-IN" dirty="0">
              <a:latin typeface="Söhne"/>
            </a:endParaRPr>
          </a:p>
          <a:p>
            <a:pPr marL="0" indent="0" algn="l">
              <a:buNone/>
            </a:pPr>
            <a:r>
              <a:rPr lang="en-US" b="1" i="0">
                <a:effectLst/>
                <a:latin typeface="Söhne"/>
              </a:rPr>
              <a:t>DBMS </a:t>
            </a:r>
            <a:r>
              <a:rPr lang="en-US" b="1" i="0" dirty="0">
                <a:effectLst/>
                <a:latin typeface="Söhne"/>
              </a:rPr>
              <a:t>Example</a:t>
            </a:r>
            <a:r>
              <a:rPr lang="en-US" b="0" i="0" dirty="0">
                <a:effectLst/>
                <a:latin typeface="Söhne"/>
              </a:rPr>
              <a:t>: The schema for a university database in a DBMS might define tables like 'Students', 'Courses', 'Professors', and 'Departments'. It outlines the structure of these tables without strictly adhering to a specific model, allowing flexibility in defining relationships and constraints.</a:t>
            </a:r>
          </a:p>
          <a:p>
            <a:endParaRPr lang="en-IN" dirty="0"/>
          </a:p>
        </p:txBody>
      </p:sp>
    </p:spTree>
    <p:extLst>
      <p:ext uri="{BB962C8B-B14F-4D97-AF65-F5344CB8AC3E}">
        <p14:creationId xmlns:p14="http://schemas.microsoft.com/office/powerpoint/2010/main" val="1610068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D8FE-456D-623F-3B86-6896F9CC9D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41413B0-FEDC-8BAE-A59A-74EBE6210D5B}"/>
              </a:ext>
            </a:extLst>
          </p:cNvPr>
          <p:cNvSpPr>
            <a:spLocks noGrp="1"/>
          </p:cNvSpPr>
          <p:nvPr>
            <p:ph idx="1"/>
          </p:nvPr>
        </p:nvSpPr>
        <p:spPr/>
        <p:txBody>
          <a:bodyPr/>
          <a:lstStyle/>
          <a:p>
            <a:pPr algn="l"/>
            <a:r>
              <a:rPr lang="en-US" b="1" i="0" dirty="0">
                <a:effectLst/>
                <a:latin typeface="Söhne"/>
              </a:rPr>
              <a:t>Conceptual Modeling</a:t>
            </a:r>
            <a:r>
              <a:rPr lang="en-US" b="0" i="0" dirty="0">
                <a:effectLst/>
                <a:latin typeface="Söhne"/>
              </a:rPr>
              <a:t>:</a:t>
            </a:r>
          </a:p>
          <a:p>
            <a:pPr algn="l">
              <a:buFont typeface="Arial" panose="020B0604020202020204" pitchFamily="34" charset="0"/>
              <a:buChar char="•"/>
            </a:pPr>
            <a:r>
              <a:rPr lang="en-US" b="1" i="0" dirty="0">
                <a:effectLst/>
                <a:latin typeface="Söhne"/>
              </a:rPr>
              <a:t>DBMS Example</a:t>
            </a:r>
            <a:r>
              <a:rPr lang="en-US" b="0" i="0" dirty="0">
                <a:effectLst/>
                <a:latin typeface="Söhne"/>
              </a:rPr>
              <a:t>: Conceptual modeling in a DBMS for a university might involve identifying entities like 'Student', 'Course', 'Professor', and 'Department' without detailing how they are related or structured in the database.</a:t>
            </a:r>
          </a:p>
          <a:p>
            <a:pPr algn="l">
              <a:buFont typeface="Arial" panose="020B0604020202020204" pitchFamily="34" charset="0"/>
              <a:buChar char="•"/>
            </a:pPr>
            <a:r>
              <a:rPr lang="en-US" b="1" i="0" dirty="0">
                <a:effectLst/>
                <a:latin typeface="Söhne"/>
              </a:rPr>
              <a:t>RDBMS Example</a:t>
            </a:r>
            <a:r>
              <a:rPr lang="en-US" b="0" i="0" dirty="0">
                <a:effectLst/>
                <a:latin typeface="Söhne"/>
              </a:rPr>
              <a:t>: Similarly, in an RDBMS, conceptual modeling might define entities such as 'Student', 'Course', 'Professor', and 'Department' and their relationships (e.g., students enroll in courses, professors teach courses) without specifying the exact table structures.</a:t>
            </a:r>
          </a:p>
          <a:p>
            <a:endParaRPr lang="en-IN" dirty="0"/>
          </a:p>
        </p:txBody>
      </p:sp>
    </p:spTree>
    <p:extLst>
      <p:ext uri="{BB962C8B-B14F-4D97-AF65-F5344CB8AC3E}">
        <p14:creationId xmlns:p14="http://schemas.microsoft.com/office/powerpoint/2010/main" val="1533951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89092-6EAD-4B2B-B8A6-2F408B28E4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EB578D-17AE-D43E-F7AF-0DC91E8B14AE}"/>
              </a:ext>
            </a:extLst>
          </p:cNvPr>
          <p:cNvSpPr>
            <a:spLocks noGrp="1"/>
          </p:cNvSpPr>
          <p:nvPr>
            <p:ph idx="1"/>
          </p:nvPr>
        </p:nvSpPr>
        <p:spPr/>
        <p:txBody>
          <a:bodyPr/>
          <a:lstStyle/>
          <a:p>
            <a:pPr algn="l"/>
            <a:r>
              <a:rPr lang="en-US" b="1" i="0" dirty="0">
                <a:effectLst/>
                <a:latin typeface="Söhne"/>
              </a:rPr>
              <a:t>. Logical Modeling</a:t>
            </a:r>
            <a:r>
              <a:rPr lang="en-US" b="0" i="0" dirty="0">
                <a:effectLst/>
                <a:latin typeface="Söhne"/>
              </a:rPr>
              <a:t>:</a:t>
            </a:r>
          </a:p>
          <a:p>
            <a:pPr algn="l">
              <a:buFont typeface="Arial" panose="020B0604020202020204" pitchFamily="34" charset="0"/>
              <a:buChar char="•"/>
            </a:pPr>
            <a:r>
              <a:rPr lang="en-US" b="1" i="0" dirty="0">
                <a:effectLst/>
                <a:latin typeface="Söhne"/>
              </a:rPr>
              <a:t>DBMS Example</a:t>
            </a:r>
            <a:r>
              <a:rPr lang="en-US" b="0" i="0" dirty="0">
                <a:effectLst/>
                <a:latin typeface="Söhne"/>
              </a:rPr>
              <a:t>: Logical modeling in a DBMS could involve creating an entity-relationship diagram that depicts how 'Students', 'Courses', 'Professors', and 'Departments' are related and their attributes.</a:t>
            </a:r>
          </a:p>
          <a:p>
            <a:pPr algn="l">
              <a:buFont typeface="Arial" panose="020B0604020202020204" pitchFamily="34" charset="0"/>
              <a:buChar char="•"/>
            </a:pPr>
            <a:r>
              <a:rPr lang="en-US" b="1" i="0" dirty="0">
                <a:effectLst/>
                <a:latin typeface="Söhne"/>
              </a:rPr>
              <a:t>RDBMS Example</a:t>
            </a:r>
            <a:r>
              <a:rPr lang="en-US" b="0" i="0" dirty="0">
                <a:effectLst/>
                <a:latin typeface="Söhne"/>
              </a:rPr>
              <a:t>: In an RDBMS, logical modeling would involve creating a logical schema, defining tables with specific attributes (e.g., 'Students' table with columns: student ID, name, etc.) and relationships (e.g., foreign keys to link students to courses).</a:t>
            </a:r>
          </a:p>
          <a:p>
            <a:endParaRPr lang="en-IN" dirty="0"/>
          </a:p>
        </p:txBody>
      </p:sp>
    </p:spTree>
    <p:extLst>
      <p:ext uri="{BB962C8B-B14F-4D97-AF65-F5344CB8AC3E}">
        <p14:creationId xmlns:p14="http://schemas.microsoft.com/office/powerpoint/2010/main" val="1162384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C5DB8-D9B3-006E-2309-C52FBEA0844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055DFA9-5439-5001-C7EC-41C5368F8102}"/>
              </a:ext>
            </a:extLst>
          </p:cNvPr>
          <p:cNvSpPr>
            <a:spLocks noGrp="1"/>
          </p:cNvSpPr>
          <p:nvPr>
            <p:ph idx="1"/>
          </p:nvPr>
        </p:nvSpPr>
        <p:spPr/>
        <p:txBody>
          <a:bodyPr/>
          <a:lstStyle/>
          <a:p>
            <a:pPr algn="l"/>
            <a:r>
              <a:rPr lang="en-US" b="1" i="0" dirty="0">
                <a:effectLst/>
                <a:latin typeface="Söhne"/>
              </a:rPr>
              <a:t>Physical Modeling</a:t>
            </a:r>
            <a:r>
              <a:rPr lang="en-US" b="0" i="0" dirty="0">
                <a:effectLst/>
                <a:latin typeface="Söhne"/>
              </a:rPr>
              <a:t>:</a:t>
            </a:r>
          </a:p>
          <a:p>
            <a:pPr algn="l">
              <a:buFont typeface="Arial" panose="020B0604020202020204" pitchFamily="34" charset="0"/>
              <a:buChar char="•"/>
            </a:pPr>
            <a:r>
              <a:rPr lang="en-US" b="1" i="0" dirty="0">
                <a:effectLst/>
                <a:latin typeface="Söhne"/>
              </a:rPr>
              <a:t>DBMS Example</a:t>
            </a:r>
            <a:r>
              <a:rPr lang="en-US" b="0" i="0" dirty="0">
                <a:effectLst/>
                <a:latin typeface="Söhne"/>
              </a:rPr>
              <a:t>: Physical modeling in a DBMS might involve implementing the university database on a specific DBMS platform, considering file structures, data types, and storage optimization, without strict adherence to relational principles.</a:t>
            </a:r>
          </a:p>
          <a:p>
            <a:pPr algn="l">
              <a:buFont typeface="Arial" panose="020B0604020202020204" pitchFamily="34" charset="0"/>
              <a:buChar char="•"/>
            </a:pPr>
            <a:r>
              <a:rPr lang="en-US" b="1" i="0" dirty="0">
                <a:effectLst/>
                <a:latin typeface="Söhne"/>
              </a:rPr>
              <a:t>RDBMS Example</a:t>
            </a:r>
            <a:r>
              <a:rPr lang="en-US" b="0" i="0" dirty="0">
                <a:effectLst/>
                <a:latin typeface="Söhne"/>
              </a:rPr>
              <a:t>: In an RDBMS, physical modeling would focus on implementing the logical schema on the RDBMS platform, defining table structures, specifying indexes, partitioning data, and optimizing storage based on the relational model.</a:t>
            </a:r>
          </a:p>
          <a:p>
            <a:endParaRPr lang="en-IN" dirty="0"/>
          </a:p>
        </p:txBody>
      </p:sp>
    </p:spTree>
    <p:extLst>
      <p:ext uri="{BB962C8B-B14F-4D97-AF65-F5344CB8AC3E}">
        <p14:creationId xmlns:p14="http://schemas.microsoft.com/office/powerpoint/2010/main" val="2660517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B3516-7513-2478-C217-E1A90B0F98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CC3D034-A6A1-BBA1-608B-ED7DA949E329}"/>
              </a:ext>
            </a:extLst>
          </p:cNvPr>
          <p:cNvSpPr>
            <a:spLocks noGrp="1"/>
          </p:cNvSpPr>
          <p:nvPr>
            <p:ph idx="1"/>
          </p:nvPr>
        </p:nvSpPr>
        <p:spPr/>
        <p:txBody>
          <a:bodyPr/>
          <a:lstStyle/>
          <a:p>
            <a:pPr algn="l"/>
            <a:r>
              <a:rPr lang="en-US" b="1" i="0" dirty="0">
                <a:solidFill>
                  <a:srgbClr val="0F0F0F"/>
                </a:solidFill>
                <a:effectLst/>
                <a:latin typeface="Söhne"/>
              </a:rPr>
              <a:t>Identifying Dimensions</a:t>
            </a:r>
            <a:r>
              <a:rPr lang="en-US" b="0" i="0" dirty="0">
                <a:solidFill>
                  <a:srgbClr val="0F0F0F"/>
                </a:solidFill>
                <a:effectLst/>
                <a:latin typeface="Söhne"/>
              </a:rPr>
              <a:t>:</a:t>
            </a:r>
          </a:p>
          <a:p>
            <a:pPr algn="l">
              <a:buFont typeface="Arial" panose="020B0604020202020204" pitchFamily="34" charset="0"/>
              <a:buChar char="•"/>
            </a:pPr>
            <a:r>
              <a:rPr lang="en-US" b="0" i="0" dirty="0">
                <a:solidFill>
                  <a:srgbClr val="0F0F0F"/>
                </a:solidFill>
                <a:effectLst/>
                <a:latin typeface="Söhne"/>
              </a:rPr>
              <a:t>Dimensions are the descriptive attributes of the business context. They provide the context for measurements (facts). Identification of dimensions involves recognizing the various categories or perspectives along which data can be analyzed. For instance, in a sales database, dimensions might include time, product, location, and customer.</a:t>
            </a:r>
          </a:p>
          <a:p>
            <a:endParaRPr lang="en-IN" dirty="0"/>
          </a:p>
        </p:txBody>
      </p:sp>
    </p:spTree>
    <p:extLst>
      <p:ext uri="{BB962C8B-B14F-4D97-AF65-F5344CB8AC3E}">
        <p14:creationId xmlns:p14="http://schemas.microsoft.com/office/powerpoint/2010/main" val="523351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DF587-C650-90DA-5AB7-85B30E2B0BC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18D5C8D-6C87-D25C-99EC-1B471D29311D}"/>
              </a:ext>
            </a:extLst>
          </p:cNvPr>
          <p:cNvSpPr>
            <a:spLocks noGrp="1"/>
          </p:cNvSpPr>
          <p:nvPr>
            <p:ph idx="1"/>
          </p:nvPr>
        </p:nvSpPr>
        <p:spPr/>
        <p:txBody>
          <a:bodyPr/>
          <a:lstStyle/>
          <a:p>
            <a:pPr algn="l"/>
            <a:r>
              <a:rPr lang="en-US" b="1" i="0" dirty="0">
                <a:solidFill>
                  <a:srgbClr val="0F0F0F"/>
                </a:solidFill>
                <a:effectLst/>
                <a:latin typeface="Söhne"/>
              </a:rPr>
              <a:t>Facts and Fact Tables</a:t>
            </a:r>
            <a:r>
              <a:rPr lang="en-US" b="0" i="0" dirty="0">
                <a:solidFill>
                  <a:srgbClr val="0F0F0F"/>
                </a:solidFill>
                <a:effectLst/>
                <a:latin typeface="Söhne"/>
              </a:rPr>
              <a:t>:</a:t>
            </a:r>
          </a:p>
          <a:p>
            <a:pPr algn="l">
              <a:buFont typeface="Arial" panose="020B0604020202020204" pitchFamily="34" charset="0"/>
              <a:buChar char="•"/>
            </a:pPr>
            <a:r>
              <a:rPr lang="en-US" b="0" i="0" dirty="0">
                <a:solidFill>
                  <a:srgbClr val="0F0F0F"/>
                </a:solidFill>
                <a:effectLst/>
                <a:latin typeface="Söhne"/>
              </a:rPr>
              <a:t>Facts are numerical data or metrics that represent business measures or events, while a fact table stores these measurements. They contain foreign keys that link to the related dimension tables. For instance, in a sales scenario, the quantity sold, revenue generated, or discounts applied are considered facts. The fact table holds these measures along with keys referencing dimensions like time, product, and customer.</a:t>
            </a:r>
          </a:p>
          <a:p>
            <a:endParaRPr lang="en-IN" dirty="0"/>
          </a:p>
        </p:txBody>
      </p:sp>
    </p:spTree>
    <p:extLst>
      <p:ext uri="{BB962C8B-B14F-4D97-AF65-F5344CB8AC3E}">
        <p14:creationId xmlns:p14="http://schemas.microsoft.com/office/powerpoint/2010/main" val="3227891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2FE6F-30BB-10B3-1450-4DA512C5DAD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6DFDDA0-9206-D2A2-AFF7-1E1BEE0C86C5}"/>
              </a:ext>
            </a:extLst>
          </p:cNvPr>
          <p:cNvSpPr>
            <a:spLocks noGrp="1"/>
          </p:cNvSpPr>
          <p:nvPr>
            <p:ph idx="1"/>
          </p:nvPr>
        </p:nvSpPr>
        <p:spPr/>
        <p:txBody>
          <a:bodyPr/>
          <a:lstStyle/>
          <a:p>
            <a:pPr algn="l"/>
            <a:r>
              <a:rPr lang="en-US" b="1" i="0" dirty="0">
                <a:solidFill>
                  <a:srgbClr val="0F0F0F"/>
                </a:solidFill>
                <a:effectLst/>
                <a:latin typeface="Söhne"/>
              </a:rPr>
              <a:t>Segregating</a:t>
            </a:r>
            <a:r>
              <a:rPr lang="en-US" b="0" i="0" dirty="0">
                <a:solidFill>
                  <a:srgbClr val="0F0F0F"/>
                </a:solidFill>
                <a:effectLst/>
                <a:latin typeface="Söhne"/>
              </a:rPr>
              <a:t>:</a:t>
            </a:r>
          </a:p>
          <a:p>
            <a:pPr algn="l">
              <a:buFont typeface="Arial" panose="020B0604020202020204" pitchFamily="34" charset="0"/>
              <a:buChar char="•"/>
            </a:pPr>
            <a:r>
              <a:rPr lang="en-US" b="0" i="0" dirty="0">
                <a:solidFill>
                  <a:srgbClr val="0F0F0F"/>
                </a:solidFill>
                <a:effectLst/>
                <a:latin typeface="Söhne"/>
              </a:rPr>
              <a:t>Segregating involves organizing data into separate tables based on their context or theme. It helps maintain a clear structure and reduces the chances of data duplication. Dimensions and fact tables are segregated to store descriptive information separately from the numerical measures, allowing for more efficient data retrieval and management.</a:t>
            </a:r>
          </a:p>
          <a:p>
            <a:endParaRPr lang="en-IN" dirty="0"/>
          </a:p>
        </p:txBody>
      </p:sp>
    </p:spTree>
    <p:extLst>
      <p:ext uri="{BB962C8B-B14F-4D97-AF65-F5344CB8AC3E}">
        <p14:creationId xmlns:p14="http://schemas.microsoft.com/office/powerpoint/2010/main" val="2126624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B5B51-14C6-7218-33FB-EB1E530F67F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463AD75-F6BA-BA80-F5A8-CD63B3B6DD61}"/>
              </a:ext>
            </a:extLst>
          </p:cNvPr>
          <p:cNvSpPr>
            <a:spLocks noGrp="1"/>
          </p:cNvSpPr>
          <p:nvPr>
            <p:ph idx="1"/>
          </p:nvPr>
        </p:nvSpPr>
        <p:spPr/>
        <p:txBody>
          <a:bodyPr/>
          <a:lstStyle/>
          <a:p>
            <a:r>
              <a:rPr lang="en-IN" dirty="0"/>
              <a:t>Entity</a:t>
            </a:r>
          </a:p>
          <a:p>
            <a:r>
              <a:rPr lang="en-IN" dirty="0"/>
              <a:t>Strong entity  (does not depend on other entity) (Employee id)</a:t>
            </a:r>
          </a:p>
          <a:p>
            <a:r>
              <a:rPr lang="en-IN" dirty="0"/>
              <a:t>Weak entity (depend on other entity)</a:t>
            </a:r>
          </a:p>
        </p:txBody>
      </p:sp>
      <p:sp>
        <p:nvSpPr>
          <p:cNvPr id="5" name="TextBox 4">
            <a:extLst>
              <a:ext uri="{FF2B5EF4-FFF2-40B4-BE49-F238E27FC236}">
                <a16:creationId xmlns:a16="http://schemas.microsoft.com/office/drawing/2014/main" id="{76E3A56B-4CDA-3FC9-DCC7-E4FAA6C19811}"/>
              </a:ext>
            </a:extLst>
          </p:cNvPr>
          <p:cNvSpPr txBox="1"/>
          <p:nvPr/>
        </p:nvSpPr>
        <p:spPr>
          <a:xfrm>
            <a:off x="3300705" y="4877191"/>
            <a:ext cx="6097554" cy="369332"/>
          </a:xfrm>
          <a:prstGeom prst="rect">
            <a:avLst/>
          </a:prstGeom>
          <a:noFill/>
        </p:spPr>
        <p:txBody>
          <a:bodyPr wrap="square">
            <a:spAutoFit/>
          </a:bodyPr>
          <a:lstStyle/>
          <a:p>
            <a:r>
              <a:rPr lang="en-IN" dirty="0"/>
              <a:t>https://www.geeksforgeeks.org/introduction-of-er-model/</a:t>
            </a:r>
          </a:p>
        </p:txBody>
      </p:sp>
    </p:spTree>
    <p:extLst>
      <p:ext uri="{BB962C8B-B14F-4D97-AF65-F5344CB8AC3E}">
        <p14:creationId xmlns:p14="http://schemas.microsoft.com/office/powerpoint/2010/main" val="1589403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C7118-9908-29C8-4CC6-B8A51A64AC03}"/>
              </a:ext>
            </a:extLst>
          </p:cNvPr>
          <p:cNvSpPr>
            <a:spLocks noGrp="1"/>
          </p:cNvSpPr>
          <p:nvPr>
            <p:ph type="title"/>
          </p:nvPr>
        </p:nvSpPr>
        <p:spPr/>
        <p:txBody>
          <a:bodyPr/>
          <a:lstStyle/>
          <a:p>
            <a:r>
              <a:rPr lang="en-IN" dirty="0"/>
              <a:t>Entity relationship diagram</a:t>
            </a:r>
          </a:p>
        </p:txBody>
      </p:sp>
      <p:sp>
        <p:nvSpPr>
          <p:cNvPr id="3" name="Content Placeholder 2">
            <a:extLst>
              <a:ext uri="{FF2B5EF4-FFF2-40B4-BE49-F238E27FC236}">
                <a16:creationId xmlns:a16="http://schemas.microsoft.com/office/drawing/2014/main" id="{C455B049-3374-83D3-C940-FD80D45DFC43}"/>
              </a:ext>
            </a:extLst>
          </p:cNvPr>
          <p:cNvSpPr>
            <a:spLocks noGrp="1"/>
          </p:cNvSpPr>
          <p:nvPr>
            <p:ph idx="1"/>
          </p:nvPr>
        </p:nvSpPr>
        <p:spPr/>
        <p:txBody>
          <a:bodyPr>
            <a:normAutofit fontScale="92500" lnSpcReduction="20000"/>
          </a:bodyPr>
          <a:lstStyle/>
          <a:p>
            <a:pPr marL="0" indent="0">
              <a:buNone/>
            </a:pPr>
            <a:r>
              <a:rPr lang="en-IN" b="0" i="0" dirty="0">
                <a:solidFill>
                  <a:srgbClr val="131313"/>
                </a:solidFill>
                <a:effectLst/>
                <a:latin typeface="Roboto" panose="02000000000000000000" pitchFamily="2" charset="0"/>
              </a:rPr>
              <a:t>Terminologies in relation to the ER Model: </a:t>
            </a:r>
          </a:p>
          <a:p>
            <a:r>
              <a:rPr lang="en-IN" b="0" i="0" dirty="0">
                <a:solidFill>
                  <a:srgbClr val="131313"/>
                </a:solidFill>
                <a:effectLst/>
                <a:latin typeface="Roboto" panose="02000000000000000000" pitchFamily="2" charset="0"/>
              </a:rPr>
              <a:t>a. Entity.  (car)</a:t>
            </a:r>
          </a:p>
          <a:p>
            <a:r>
              <a:rPr lang="en-IN" b="0" i="0" dirty="0">
                <a:solidFill>
                  <a:srgbClr val="131313"/>
                </a:solidFill>
                <a:effectLst/>
                <a:latin typeface="Roboto" panose="02000000000000000000" pitchFamily="2" charset="0"/>
              </a:rPr>
              <a:t>b. Attributes:  (car--- su</a:t>
            </a:r>
            <a:r>
              <a:rPr lang="en-IN" dirty="0">
                <a:solidFill>
                  <a:srgbClr val="131313"/>
                </a:solidFill>
                <a:latin typeface="Roboto" panose="02000000000000000000" pitchFamily="2" charset="0"/>
              </a:rPr>
              <a:t>percar, colors, model</a:t>
            </a:r>
            <a:r>
              <a:rPr lang="en-IN" b="0" i="0" dirty="0">
                <a:solidFill>
                  <a:srgbClr val="131313"/>
                </a:solidFill>
                <a:effectLst/>
                <a:latin typeface="Roboto" panose="02000000000000000000" pitchFamily="2" charset="0"/>
              </a:rPr>
              <a:t>)</a:t>
            </a:r>
          </a:p>
          <a:p>
            <a:pPr lvl="1"/>
            <a:r>
              <a:rPr lang="en-IN" b="0" i="0" dirty="0">
                <a:solidFill>
                  <a:srgbClr val="131313"/>
                </a:solidFill>
                <a:effectLst/>
                <a:latin typeface="Roboto" panose="02000000000000000000" pitchFamily="2" charset="0"/>
              </a:rPr>
              <a:t>• Composite vs Simple Attributes  (ca)</a:t>
            </a:r>
          </a:p>
          <a:p>
            <a:pPr lvl="1"/>
            <a:r>
              <a:rPr lang="en-IN" b="0" i="0" dirty="0">
                <a:solidFill>
                  <a:srgbClr val="131313"/>
                </a:solidFill>
                <a:effectLst/>
                <a:latin typeface="Roboto" panose="02000000000000000000" pitchFamily="2" charset="0"/>
              </a:rPr>
              <a:t>• Single-valued vs Multivalued Attributes </a:t>
            </a:r>
          </a:p>
          <a:p>
            <a:pPr lvl="1"/>
            <a:r>
              <a:rPr lang="en-IN" b="0" i="0" dirty="0">
                <a:solidFill>
                  <a:srgbClr val="131313"/>
                </a:solidFill>
                <a:effectLst/>
                <a:latin typeface="Roboto" panose="02000000000000000000" pitchFamily="2" charset="0"/>
              </a:rPr>
              <a:t>• Derived vs Stored Attributes </a:t>
            </a:r>
          </a:p>
          <a:p>
            <a:r>
              <a:rPr lang="en-IN" b="0" i="0" dirty="0">
                <a:solidFill>
                  <a:srgbClr val="131313"/>
                </a:solidFill>
                <a:effectLst/>
                <a:latin typeface="Roboto" panose="02000000000000000000" pitchFamily="2" charset="0"/>
              </a:rPr>
              <a:t>c. Complex Attributes. </a:t>
            </a:r>
          </a:p>
          <a:p>
            <a:r>
              <a:rPr lang="en-IN" b="0" i="0" dirty="0">
                <a:solidFill>
                  <a:srgbClr val="131313"/>
                </a:solidFill>
                <a:effectLst/>
                <a:latin typeface="Roboto" panose="02000000000000000000" pitchFamily="2" charset="0"/>
              </a:rPr>
              <a:t>d. Null values. </a:t>
            </a:r>
          </a:p>
          <a:p>
            <a:r>
              <a:rPr lang="en-IN" b="0" i="0" dirty="0">
                <a:solidFill>
                  <a:srgbClr val="131313"/>
                </a:solidFill>
                <a:effectLst/>
                <a:latin typeface="Roboto" panose="02000000000000000000" pitchFamily="2" charset="0"/>
              </a:rPr>
              <a:t>e. Entity Type, Entity Set. </a:t>
            </a:r>
          </a:p>
          <a:p>
            <a:r>
              <a:rPr lang="en-IN" b="0" i="0" dirty="0">
                <a:solidFill>
                  <a:srgbClr val="131313"/>
                </a:solidFill>
                <a:effectLst/>
                <a:latin typeface="Roboto" panose="02000000000000000000" pitchFamily="2" charset="0"/>
              </a:rPr>
              <a:t>f. Key Attribute. </a:t>
            </a:r>
            <a:br>
              <a:rPr lang="en-IN" dirty="0"/>
            </a:br>
            <a:endParaRPr lang="en-IN" b="1" dirty="0"/>
          </a:p>
        </p:txBody>
      </p:sp>
    </p:spTree>
    <p:extLst>
      <p:ext uri="{BB962C8B-B14F-4D97-AF65-F5344CB8AC3E}">
        <p14:creationId xmlns:p14="http://schemas.microsoft.com/office/powerpoint/2010/main" val="2129946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86EED-6526-D9FF-4455-BFB2A9EDE86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22D64A1-4E94-22AC-B603-F2ED5AC41C3A}"/>
              </a:ext>
            </a:extLst>
          </p:cNvPr>
          <p:cNvSpPr>
            <a:spLocks noGrp="1"/>
          </p:cNvSpPr>
          <p:nvPr>
            <p:ph idx="1"/>
          </p:nvPr>
        </p:nvSpPr>
        <p:spPr/>
        <p:txBody>
          <a:bodyPr/>
          <a:lstStyle/>
          <a:p>
            <a:pPr lvl="1"/>
            <a:r>
              <a:rPr lang="en-IN" b="0" i="0" dirty="0">
                <a:solidFill>
                  <a:srgbClr val="131313"/>
                </a:solidFill>
                <a:effectLst/>
                <a:latin typeface="Roboto" panose="02000000000000000000" pitchFamily="2" charset="0"/>
              </a:rPr>
              <a:t>Composite vs Simple Attributes  </a:t>
            </a:r>
          </a:p>
          <a:p>
            <a:pPr marL="457200" lvl="1" indent="0">
              <a:buNone/>
            </a:pPr>
            <a:r>
              <a:rPr lang="en-IN" dirty="0">
                <a:solidFill>
                  <a:srgbClr val="131313"/>
                </a:solidFill>
                <a:latin typeface="Roboto" panose="02000000000000000000" pitchFamily="2" charset="0"/>
              </a:rPr>
              <a:t>Composite-- </a:t>
            </a:r>
            <a:r>
              <a:rPr lang="en-IN" b="0" i="0" dirty="0">
                <a:solidFill>
                  <a:srgbClr val="131313"/>
                </a:solidFill>
                <a:effectLst/>
                <a:latin typeface="Roboto" panose="02000000000000000000" pitchFamily="2" charset="0"/>
              </a:rPr>
              <a:t>(can be divided into further parts)  (date----- year, month, day)</a:t>
            </a:r>
          </a:p>
          <a:p>
            <a:pPr lvl="1"/>
            <a:endParaRPr lang="en-IN" dirty="0">
              <a:solidFill>
                <a:srgbClr val="131313"/>
              </a:solidFill>
              <a:latin typeface="Roboto" panose="02000000000000000000" pitchFamily="2" charset="0"/>
            </a:endParaRPr>
          </a:p>
          <a:p>
            <a:pPr lvl="1"/>
            <a:r>
              <a:rPr lang="en-IN" b="0" i="0" dirty="0">
                <a:solidFill>
                  <a:srgbClr val="131313"/>
                </a:solidFill>
                <a:effectLst/>
                <a:latin typeface="Roboto" panose="02000000000000000000" pitchFamily="2" charset="0"/>
              </a:rPr>
              <a:t>Simple attributes (cannot be divided further)   (weight)</a:t>
            </a:r>
          </a:p>
          <a:p>
            <a:pPr lvl="1"/>
            <a:endParaRPr lang="en-IN" dirty="0">
              <a:solidFill>
                <a:srgbClr val="131313"/>
              </a:solidFill>
              <a:latin typeface="Roboto" panose="02000000000000000000" pitchFamily="2" charset="0"/>
            </a:endParaRPr>
          </a:p>
          <a:p>
            <a:pPr lvl="1"/>
            <a:endParaRPr lang="en-IN" b="0" i="0" dirty="0">
              <a:solidFill>
                <a:srgbClr val="131313"/>
              </a:solidFill>
              <a:effectLst/>
              <a:latin typeface="Roboto" panose="02000000000000000000" pitchFamily="2" charset="0"/>
            </a:endParaRPr>
          </a:p>
          <a:p>
            <a:pPr lvl="1"/>
            <a:r>
              <a:rPr lang="en-IN" b="0" i="0" dirty="0">
                <a:solidFill>
                  <a:srgbClr val="131313"/>
                </a:solidFill>
                <a:effectLst/>
                <a:latin typeface="Roboto" panose="02000000000000000000" pitchFamily="2" charset="0"/>
              </a:rPr>
              <a:t>Single-valued vs Multivalued Attributes (age),,  (job types)</a:t>
            </a:r>
          </a:p>
          <a:p>
            <a:pPr lvl="1"/>
            <a:r>
              <a:rPr lang="en-IN" b="0" i="0" dirty="0">
                <a:solidFill>
                  <a:srgbClr val="131313"/>
                </a:solidFill>
                <a:effectLst/>
                <a:latin typeface="Roboto" panose="02000000000000000000" pitchFamily="2" charset="0"/>
              </a:rPr>
              <a:t>• Derived vs Stored Attributes </a:t>
            </a:r>
          </a:p>
          <a:p>
            <a:pPr lvl="1"/>
            <a:r>
              <a:rPr lang="en-IN" dirty="0">
                <a:solidFill>
                  <a:srgbClr val="131313"/>
                </a:solidFill>
                <a:latin typeface="Roboto" panose="02000000000000000000" pitchFamily="2" charset="0"/>
              </a:rPr>
              <a:t>(age can be derived from date of birth)  </a:t>
            </a:r>
          </a:p>
          <a:p>
            <a:pPr lvl="1"/>
            <a:r>
              <a:rPr lang="en-IN" b="0" i="0" dirty="0">
                <a:solidFill>
                  <a:srgbClr val="131313"/>
                </a:solidFill>
                <a:effectLst/>
                <a:latin typeface="Roboto" panose="02000000000000000000" pitchFamily="2" charset="0"/>
              </a:rPr>
              <a:t>(graduation date of student)</a:t>
            </a:r>
          </a:p>
          <a:p>
            <a:endParaRPr lang="en-IN" dirty="0"/>
          </a:p>
        </p:txBody>
      </p:sp>
    </p:spTree>
    <p:extLst>
      <p:ext uri="{BB962C8B-B14F-4D97-AF65-F5344CB8AC3E}">
        <p14:creationId xmlns:p14="http://schemas.microsoft.com/office/powerpoint/2010/main" val="2821191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15A29-57C6-C137-D4CF-FA00C799F54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549E50A-EAE8-E143-2252-FC722693F3E3}"/>
              </a:ext>
            </a:extLst>
          </p:cNvPr>
          <p:cNvSpPr>
            <a:spLocks noGrp="1"/>
          </p:cNvSpPr>
          <p:nvPr>
            <p:ph idx="1"/>
          </p:nvPr>
        </p:nvSpPr>
        <p:spPr/>
        <p:txBody>
          <a:bodyPr/>
          <a:lstStyle/>
          <a:p>
            <a:r>
              <a:rPr lang="en-IN" dirty="0"/>
              <a:t>Complex attribute</a:t>
            </a:r>
          </a:p>
          <a:p>
            <a:pPr marL="0" indent="0">
              <a:buNone/>
            </a:pPr>
            <a:r>
              <a:rPr lang="en-IN" dirty="0"/>
              <a:t>Combination of multivalued and composite attributes</a:t>
            </a:r>
          </a:p>
          <a:p>
            <a:pPr marL="0" indent="0">
              <a:buNone/>
            </a:pPr>
            <a:endParaRPr lang="en-IN" dirty="0"/>
          </a:p>
          <a:p>
            <a:pPr marL="0" indent="0">
              <a:buNone/>
            </a:pPr>
            <a:r>
              <a:rPr lang="en-IN" dirty="0"/>
              <a:t>{Medical condition-----(chronic pain, mental health disorder)}</a:t>
            </a:r>
          </a:p>
        </p:txBody>
      </p:sp>
    </p:spTree>
    <p:extLst>
      <p:ext uri="{BB962C8B-B14F-4D97-AF65-F5344CB8AC3E}">
        <p14:creationId xmlns:p14="http://schemas.microsoft.com/office/powerpoint/2010/main" val="2844035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3439F-0E40-D645-34F8-E0CAD7BFD675}"/>
              </a:ext>
            </a:extLst>
          </p:cNvPr>
          <p:cNvSpPr>
            <a:spLocks noGrp="1"/>
          </p:cNvSpPr>
          <p:nvPr>
            <p:ph type="title"/>
          </p:nvPr>
        </p:nvSpPr>
        <p:spPr/>
        <p:txBody>
          <a:bodyPr/>
          <a:lstStyle/>
          <a:p>
            <a:r>
              <a:rPr lang="en-IN" dirty="0"/>
              <a:t>Entity set</a:t>
            </a:r>
          </a:p>
        </p:txBody>
      </p:sp>
      <p:sp>
        <p:nvSpPr>
          <p:cNvPr id="3" name="Content Placeholder 2">
            <a:extLst>
              <a:ext uri="{FF2B5EF4-FFF2-40B4-BE49-F238E27FC236}">
                <a16:creationId xmlns:a16="http://schemas.microsoft.com/office/drawing/2014/main" id="{9A27DB0C-6716-470D-4D27-61EC3C6F580A}"/>
              </a:ext>
            </a:extLst>
          </p:cNvPr>
          <p:cNvSpPr>
            <a:spLocks noGrp="1"/>
          </p:cNvSpPr>
          <p:nvPr>
            <p:ph idx="1"/>
          </p:nvPr>
        </p:nvSpPr>
        <p:spPr/>
        <p:txBody>
          <a:bodyPr>
            <a:normAutofit lnSpcReduction="10000"/>
          </a:bodyPr>
          <a:lstStyle/>
          <a:p>
            <a:r>
              <a:rPr lang="en-IN" dirty="0"/>
              <a:t>Collection of entities that have same attributes.</a:t>
            </a:r>
          </a:p>
          <a:p>
            <a:endParaRPr lang="en-IN" dirty="0"/>
          </a:p>
          <a:p>
            <a:endParaRPr lang="en-IN" dirty="0"/>
          </a:p>
          <a:p>
            <a:endParaRPr lang="en-IN" dirty="0"/>
          </a:p>
          <a:p>
            <a:endParaRPr lang="en-IN" dirty="0"/>
          </a:p>
          <a:p>
            <a:endParaRPr lang="en-IN" dirty="0"/>
          </a:p>
          <a:p>
            <a:endParaRPr lang="en-IN" dirty="0"/>
          </a:p>
          <a:p>
            <a:endParaRPr lang="en-IN" dirty="0"/>
          </a:p>
          <a:p>
            <a:r>
              <a:rPr lang="en-IN" dirty="0"/>
              <a:t>Entity set- all the employee range from 20k to 30k. </a:t>
            </a:r>
          </a:p>
        </p:txBody>
      </p:sp>
      <p:graphicFrame>
        <p:nvGraphicFramePr>
          <p:cNvPr id="4" name="Table 3">
            <a:extLst>
              <a:ext uri="{FF2B5EF4-FFF2-40B4-BE49-F238E27FC236}">
                <a16:creationId xmlns:a16="http://schemas.microsoft.com/office/drawing/2014/main" id="{C1157510-9409-D225-73F2-0D13EFADA446}"/>
              </a:ext>
            </a:extLst>
          </p:cNvPr>
          <p:cNvGraphicFramePr>
            <a:graphicFrameLocks noGrp="1"/>
          </p:cNvGraphicFramePr>
          <p:nvPr>
            <p:extLst>
              <p:ext uri="{D42A27DB-BD31-4B8C-83A1-F6EECF244321}">
                <p14:modId xmlns:p14="http://schemas.microsoft.com/office/powerpoint/2010/main" val="3593987801"/>
              </p:ext>
            </p:extLst>
          </p:nvPr>
        </p:nvGraphicFramePr>
        <p:xfrm>
          <a:off x="1901372" y="3074194"/>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498180026"/>
                    </a:ext>
                  </a:extLst>
                </a:gridCol>
                <a:gridCol w="2709333">
                  <a:extLst>
                    <a:ext uri="{9D8B030D-6E8A-4147-A177-3AD203B41FA5}">
                      <a16:colId xmlns:a16="http://schemas.microsoft.com/office/drawing/2014/main" val="1134708175"/>
                    </a:ext>
                  </a:extLst>
                </a:gridCol>
                <a:gridCol w="2709333">
                  <a:extLst>
                    <a:ext uri="{9D8B030D-6E8A-4147-A177-3AD203B41FA5}">
                      <a16:colId xmlns:a16="http://schemas.microsoft.com/office/drawing/2014/main" val="1006822149"/>
                    </a:ext>
                  </a:extLst>
                </a:gridCol>
              </a:tblGrid>
              <a:tr h="370840">
                <a:tc>
                  <a:txBody>
                    <a:bodyPr/>
                    <a:lstStyle/>
                    <a:p>
                      <a:r>
                        <a:rPr lang="en-IN" dirty="0"/>
                        <a:t>Employee</a:t>
                      </a:r>
                    </a:p>
                  </a:txBody>
                  <a:tcPr/>
                </a:tc>
                <a:tc>
                  <a:txBody>
                    <a:bodyPr/>
                    <a:lstStyle/>
                    <a:p>
                      <a:r>
                        <a:rPr lang="en-IN" dirty="0"/>
                        <a:t>name</a:t>
                      </a:r>
                    </a:p>
                  </a:txBody>
                  <a:tcPr/>
                </a:tc>
                <a:tc>
                  <a:txBody>
                    <a:bodyPr/>
                    <a:lstStyle/>
                    <a:p>
                      <a:r>
                        <a:rPr lang="en-IN" dirty="0"/>
                        <a:t>salary</a:t>
                      </a:r>
                    </a:p>
                  </a:txBody>
                  <a:tcPr/>
                </a:tc>
                <a:extLst>
                  <a:ext uri="{0D108BD9-81ED-4DB2-BD59-A6C34878D82A}">
                    <a16:rowId xmlns:a16="http://schemas.microsoft.com/office/drawing/2014/main" val="1204124831"/>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430324776"/>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209003661"/>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835632438"/>
                  </a:ext>
                </a:extLst>
              </a:tr>
              <a:tr h="370840">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851274659"/>
                  </a:ext>
                </a:extLst>
              </a:tr>
            </a:tbl>
          </a:graphicData>
        </a:graphic>
      </p:graphicFrame>
    </p:spTree>
    <p:extLst>
      <p:ext uri="{BB962C8B-B14F-4D97-AF65-F5344CB8AC3E}">
        <p14:creationId xmlns:p14="http://schemas.microsoft.com/office/powerpoint/2010/main" val="2099855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4BE47-C30F-689A-254C-A883AAFEF07B}"/>
              </a:ext>
            </a:extLst>
          </p:cNvPr>
          <p:cNvSpPr>
            <a:spLocks noGrp="1"/>
          </p:cNvSpPr>
          <p:nvPr>
            <p:ph type="title"/>
          </p:nvPr>
        </p:nvSpPr>
        <p:spPr/>
        <p:txBody>
          <a:bodyPr/>
          <a:lstStyle/>
          <a:p>
            <a:r>
              <a:rPr lang="en-IN" dirty="0"/>
              <a:t>Key attributes</a:t>
            </a:r>
          </a:p>
        </p:txBody>
      </p:sp>
      <p:sp>
        <p:nvSpPr>
          <p:cNvPr id="3" name="Content Placeholder 2">
            <a:extLst>
              <a:ext uri="{FF2B5EF4-FFF2-40B4-BE49-F238E27FC236}">
                <a16:creationId xmlns:a16="http://schemas.microsoft.com/office/drawing/2014/main" id="{6DCE9069-53F7-6574-B07F-D3584D986145}"/>
              </a:ext>
            </a:extLst>
          </p:cNvPr>
          <p:cNvSpPr>
            <a:spLocks noGrp="1"/>
          </p:cNvSpPr>
          <p:nvPr>
            <p:ph idx="1"/>
          </p:nvPr>
        </p:nvSpPr>
        <p:spPr/>
        <p:txBody>
          <a:bodyPr/>
          <a:lstStyle/>
          <a:p>
            <a:r>
              <a:rPr lang="en-IN" dirty="0"/>
              <a:t>Roll no</a:t>
            </a:r>
          </a:p>
        </p:txBody>
      </p:sp>
    </p:spTree>
    <p:extLst>
      <p:ext uri="{BB962C8B-B14F-4D97-AF65-F5344CB8AC3E}">
        <p14:creationId xmlns:p14="http://schemas.microsoft.com/office/powerpoint/2010/main" val="3524520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230FA-7A2D-E71C-DB1C-8F64E072398C}"/>
              </a:ext>
            </a:extLst>
          </p:cNvPr>
          <p:cNvSpPr>
            <a:spLocks noGrp="1"/>
          </p:cNvSpPr>
          <p:nvPr>
            <p:ph type="title"/>
          </p:nvPr>
        </p:nvSpPr>
        <p:spPr/>
        <p:txBody>
          <a:bodyPr/>
          <a:lstStyle/>
          <a:p>
            <a:r>
              <a:rPr lang="en-IN" dirty="0"/>
              <a:t>Relationships</a:t>
            </a:r>
          </a:p>
        </p:txBody>
      </p:sp>
      <p:sp>
        <p:nvSpPr>
          <p:cNvPr id="3" name="Content Placeholder 2">
            <a:extLst>
              <a:ext uri="{FF2B5EF4-FFF2-40B4-BE49-F238E27FC236}">
                <a16:creationId xmlns:a16="http://schemas.microsoft.com/office/drawing/2014/main" id="{CDD30ACF-783F-72B1-B424-580EEA0251C5}"/>
              </a:ext>
            </a:extLst>
          </p:cNvPr>
          <p:cNvSpPr>
            <a:spLocks noGrp="1"/>
          </p:cNvSpPr>
          <p:nvPr>
            <p:ph idx="1"/>
          </p:nvPr>
        </p:nvSpPr>
        <p:spPr/>
        <p:txBody>
          <a:bodyPr>
            <a:normAutofit fontScale="92500" lnSpcReduction="10000"/>
          </a:bodyPr>
          <a:lstStyle/>
          <a:p>
            <a:pPr algn="l">
              <a:buFont typeface="+mj-lt"/>
              <a:buAutoNum type="arabicPeriod"/>
            </a:pPr>
            <a:r>
              <a:rPr lang="en-IN" dirty="0"/>
              <a:t>One to one (</a:t>
            </a:r>
            <a:r>
              <a:rPr lang="en-US" b="0" i="0" dirty="0">
                <a:effectLst/>
                <a:latin typeface="Söhne"/>
              </a:rPr>
              <a:t>A person has only one unique social security number, and each social security number belongs to only one individual.</a:t>
            </a:r>
            <a:br>
              <a:rPr lang="en-US" dirty="0"/>
            </a:br>
            <a:r>
              <a:rPr lang="en-IN" dirty="0"/>
              <a:t>)</a:t>
            </a:r>
          </a:p>
          <a:p>
            <a:pPr algn="l">
              <a:buFont typeface="+mj-lt"/>
              <a:buAutoNum type="arabicPeriod"/>
            </a:pPr>
            <a:r>
              <a:rPr lang="en-IN" dirty="0"/>
              <a:t>One to Many (</a:t>
            </a:r>
            <a:endParaRPr lang="en-US" b="0" i="0" dirty="0">
              <a:effectLst/>
              <a:latin typeface="Söhne"/>
            </a:endParaRPr>
          </a:p>
          <a:p>
            <a:pPr marL="742950" lvl="1" indent="-285750" algn="l">
              <a:buFont typeface="+mj-lt"/>
              <a:buAutoNum type="arabicPeriod"/>
            </a:pPr>
            <a:r>
              <a:rPr lang="en-US" b="0" i="0" dirty="0">
                <a:effectLst/>
                <a:latin typeface="Söhne"/>
              </a:rPr>
              <a:t>An author writes many books, but each book is authored by only one writer.</a:t>
            </a:r>
          </a:p>
          <a:p>
            <a:pPr marL="0" indent="0">
              <a:buNone/>
            </a:pPr>
            <a:endParaRPr lang="en-IN" dirty="0"/>
          </a:p>
          <a:p>
            <a:pPr algn="l">
              <a:buFont typeface="+mj-lt"/>
              <a:buAutoNum type="arabicPeriod"/>
            </a:pPr>
            <a:r>
              <a:rPr lang="en-IN" dirty="0"/>
              <a:t>Many to one(</a:t>
            </a:r>
            <a:endParaRPr lang="en-US" b="0" i="0" dirty="0">
              <a:effectLst/>
              <a:latin typeface="Söhne"/>
            </a:endParaRPr>
          </a:p>
          <a:p>
            <a:pPr marL="742950" lvl="1" indent="-285750" algn="l">
              <a:buFont typeface="+mj-lt"/>
              <a:buAutoNum type="arabicPeriod"/>
            </a:pPr>
            <a:r>
              <a:rPr lang="en-US" b="0" i="0" dirty="0">
                <a:effectLst/>
                <a:latin typeface="Söhne"/>
              </a:rPr>
              <a:t>Many students study in one university.</a:t>
            </a:r>
            <a:br>
              <a:rPr lang="en-US" dirty="0"/>
            </a:br>
            <a:r>
              <a:rPr lang="en-IN" dirty="0"/>
              <a:t>)</a:t>
            </a:r>
          </a:p>
          <a:p>
            <a:r>
              <a:rPr lang="en-IN" dirty="0"/>
              <a:t>Many to many (</a:t>
            </a:r>
            <a:r>
              <a:rPr lang="en-US" dirty="0"/>
              <a:t>Students can enroll in multiple classes, and each class can have multiple enrolled students</a:t>
            </a:r>
            <a:r>
              <a:rPr lang="en-IN" dirty="0"/>
              <a:t>)</a:t>
            </a:r>
          </a:p>
        </p:txBody>
      </p:sp>
    </p:spTree>
    <p:extLst>
      <p:ext uri="{BB962C8B-B14F-4D97-AF65-F5344CB8AC3E}">
        <p14:creationId xmlns:p14="http://schemas.microsoft.com/office/powerpoint/2010/main" val="3262347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04B7-01A4-40BD-883E-2EE81D785AFB}"/>
              </a:ext>
            </a:extLst>
          </p:cNvPr>
          <p:cNvSpPr>
            <a:spLocks noGrp="1"/>
          </p:cNvSpPr>
          <p:nvPr>
            <p:ph type="title"/>
          </p:nvPr>
        </p:nvSpPr>
        <p:spPr/>
        <p:txBody>
          <a:bodyPr/>
          <a:lstStyle/>
          <a:p>
            <a:r>
              <a:rPr lang="en-IN" dirty="0"/>
              <a:t>ER diagram</a:t>
            </a:r>
          </a:p>
        </p:txBody>
      </p:sp>
      <p:pic>
        <p:nvPicPr>
          <p:cNvPr id="5" name="Content Placeholder 4" descr="A chart with symbols and symbols&#10;&#10;Description automatically generated">
            <a:extLst>
              <a:ext uri="{FF2B5EF4-FFF2-40B4-BE49-F238E27FC236}">
                <a16:creationId xmlns:a16="http://schemas.microsoft.com/office/drawing/2014/main" id="{A0E684CE-44EE-D785-6C4A-7D76396762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6488" y="1825625"/>
            <a:ext cx="7919023" cy="4351338"/>
          </a:xfrm>
        </p:spPr>
      </p:pic>
    </p:spTree>
    <p:extLst>
      <p:ext uri="{BB962C8B-B14F-4D97-AF65-F5344CB8AC3E}">
        <p14:creationId xmlns:p14="http://schemas.microsoft.com/office/powerpoint/2010/main" val="1951427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2F536-FF8E-16EA-D544-41ED35AB173A}"/>
              </a:ext>
            </a:extLst>
          </p:cNvPr>
          <p:cNvSpPr>
            <a:spLocks noGrp="1"/>
          </p:cNvSpPr>
          <p:nvPr>
            <p:ph type="title"/>
          </p:nvPr>
        </p:nvSpPr>
        <p:spPr/>
        <p:txBody>
          <a:bodyPr/>
          <a:lstStyle/>
          <a:p>
            <a:endParaRPr lang="en-IN"/>
          </a:p>
        </p:txBody>
      </p:sp>
      <p:pic>
        <p:nvPicPr>
          <p:cNvPr id="5" name="Content Placeholder 4" descr="A diagram of a student&#10;&#10;Description automatically generated">
            <a:extLst>
              <a:ext uri="{FF2B5EF4-FFF2-40B4-BE49-F238E27FC236}">
                <a16:creationId xmlns:a16="http://schemas.microsoft.com/office/drawing/2014/main" id="{D3E3849A-5170-B6EA-4297-355FE45B2E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5812" y="1825625"/>
            <a:ext cx="7820376" cy="4351338"/>
          </a:xfrm>
        </p:spPr>
      </p:pic>
    </p:spTree>
    <p:extLst>
      <p:ext uri="{BB962C8B-B14F-4D97-AF65-F5344CB8AC3E}">
        <p14:creationId xmlns:p14="http://schemas.microsoft.com/office/powerpoint/2010/main" val="819313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E0EB0-C325-E0A2-B17C-90DB1C2F235E}"/>
              </a:ext>
            </a:extLst>
          </p:cNvPr>
          <p:cNvSpPr>
            <a:spLocks noGrp="1"/>
          </p:cNvSpPr>
          <p:nvPr>
            <p:ph type="title"/>
          </p:nvPr>
        </p:nvSpPr>
        <p:spPr/>
        <p:txBody>
          <a:bodyPr/>
          <a:lstStyle/>
          <a:p>
            <a:r>
              <a:rPr lang="en-IN" dirty="0"/>
              <a:t>Chat </a:t>
            </a:r>
            <a:r>
              <a:rPr lang="en-IN" dirty="0" err="1"/>
              <a:t>gpt</a:t>
            </a:r>
            <a:r>
              <a:rPr lang="en-IN" dirty="0"/>
              <a:t> tricks </a:t>
            </a:r>
          </a:p>
        </p:txBody>
      </p:sp>
      <p:sp>
        <p:nvSpPr>
          <p:cNvPr id="3" name="Content Placeholder 2">
            <a:extLst>
              <a:ext uri="{FF2B5EF4-FFF2-40B4-BE49-F238E27FC236}">
                <a16:creationId xmlns:a16="http://schemas.microsoft.com/office/drawing/2014/main" id="{A69F49AE-E7FE-3567-C347-0759C25BA21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821734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06246-7A70-1F3A-7B67-D2D112B421EB}"/>
              </a:ext>
            </a:extLst>
          </p:cNvPr>
          <p:cNvSpPr>
            <a:spLocks noGrp="1"/>
          </p:cNvSpPr>
          <p:nvPr>
            <p:ph type="title"/>
          </p:nvPr>
        </p:nvSpPr>
        <p:spPr/>
        <p:txBody>
          <a:bodyPr/>
          <a:lstStyle/>
          <a:p>
            <a:r>
              <a:rPr lang="en-IN" dirty="0"/>
              <a:t>UML diagram</a:t>
            </a:r>
          </a:p>
        </p:txBody>
      </p:sp>
      <p:pic>
        <p:nvPicPr>
          <p:cNvPr id="5" name="Content Placeholder 4" descr="A diagram of a diagram&#10;&#10;Description automatically generated">
            <a:extLst>
              <a:ext uri="{FF2B5EF4-FFF2-40B4-BE49-F238E27FC236}">
                <a16:creationId xmlns:a16="http://schemas.microsoft.com/office/drawing/2014/main" id="{AED31501-0E10-E614-0356-83E329287B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15426" y="1017037"/>
            <a:ext cx="7728416" cy="5106275"/>
          </a:xfrm>
        </p:spPr>
      </p:pic>
      <p:sp>
        <p:nvSpPr>
          <p:cNvPr id="7" name="TextBox 6">
            <a:extLst>
              <a:ext uri="{FF2B5EF4-FFF2-40B4-BE49-F238E27FC236}">
                <a16:creationId xmlns:a16="http://schemas.microsoft.com/office/drawing/2014/main" id="{ABA16B4C-047B-A0C4-52D9-B0D4112AC366}"/>
              </a:ext>
            </a:extLst>
          </p:cNvPr>
          <p:cNvSpPr txBox="1"/>
          <p:nvPr/>
        </p:nvSpPr>
        <p:spPr>
          <a:xfrm>
            <a:off x="612710" y="1856992"/>
            <a:ext cx="2690327" cy="2031325"/>
          </a:xfrm>
          <a:prstGeom prst="rect">
            <a:avLst/>
          </a:prstGeom>
          <a:noFill/>
        </p:spPr>
        <p:txBody>
          <a:bodyPr wrap="square">
            <a:spAutoFit/>
          </a:bodyPr>
          <a:lstStyle/>
          <a:p>
            <a:r>
              <a:rPr lang="en-US" b="0" i="0" dirty="0">
                <a:solidFill>
                  <a:srgbClr val="202124"/>
                </a:solidFill>
                <a:effectLst/>
                <a:latin typeface="Google Sans"/>
              </a:rPr>
              <a:t>UML, which stands for Unified Modeling Language, is </a:t>
            </a:r>
            <a:r>
              <a:rPr lang="en-US" b="0" i="0" dirty="0">
                <a:solidFill>
                  <a:srgbClr val="040C28"/>
                </a:solidFill>
                <a:effectLst/>
                <a:latin typeface="Google Sans"/>
              </a:rPr>
              <a:t>a way to visually represent the architecture, design, and implementation of complex software systems</a:t>
            </a:r>
            <a:r>
              <a:rPr lang="en-US" b="0" i="0" dirty="0">
                <a:solidFill>
                  <a:srgbClr val="202124"/>
                </a:solidFill>
                <a:effectLst/>
                <a:latin typeface="Google Sans"/>
              </a:rPr>
              <a:t>.</a:t>
            </a:r>
            <a:endParaRPr lang="en-IN" dirty="0"/>
          </a:p>
        </p:txBody>
      </p:sp>
    </p:spTree>
    <p:extLst>
      <p:ext uri="{BB962C8B-B14F-4D97-AF65-F5344CB8AC3E}">
        <p14:creationId xmlns:p14="http://schemas.microsoft.com/office/powerpoint/2010/main" val="2121696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9F8BE-5242-5100-DB0D-0F7C252360A5}"/>
              </a:ext>
            </a:extLst>
          </p:cNvPr>
          <p:cNvSpPr>
            <a:spLocks noGrp="1"/>
          </p:cNvSpPr>
          <p:nvPr>
            <p:ph type="title"/>
          </p:nvPr>
        </p:nvSpPr>
        <p:spPr/>
        <p:txBody>
          <a:bodyPr/>
          <a:lstStyle/>
          <a:p>
            <a:endParaRPr lang="en-IN"/>
          </a:p>
        </p:txBody>
      </p:sp>
      <p:pic>
        <p:nvPicPr>
          <p:cNvPr id="7" name="Content Placeholder 6" descr="A screenshot of a computer&#10;&#10;Description automatically generated">
            <a:extLst>
              <a:ext uri="{FF2B5EF4-FFF2-40B4-BE49-F238E27FC236}">
                <a16:creationId xmlns:a16="http://schemas.microsoft.com/office/drawing/2014/main" id="{6CFF100B-CFA5-BC9D-5A88-170D3412A0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96858" y="911225"/>
            <a:ext cx="5625058" cy="4351338"/>
          </a:xfrm>
        </p:spPr>
      </p:pic>
    </p:spTree>
    <p:extLst>
      <p:ext uri="{BB962C8B-B14F-4D97-AF65-F5344CB8AC3E}">
        <p14:creationId xmlns:p14="http://schemas.microsoft.com/office/powerpoint/2010/main" val="2534245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5264D-A149-AE74-3BF5-4F5C7391C033}"/>
              </a:ext>
            </a:extLst>
          </p:cNvPr>
          <p:cNvSpPr>
            <a:spLocks noGrp="1"/>
          </p:cNvSpPr>
          <p:nvPr>
            <p:ph type="title"/>
          </p:nvPr>
        </p:nvSpPr>
        <p:spPr/>
        <p:txBody>
          <a:bodyPr/>
          <a:lstStyle/>
          <a:p>
            <a:r>
              <a:rPr lang="en-IN" dirty="0"/>
              <a:t>Labs</a:t>
            </a:r>
          </a:p>
        </p:txBody>
      </p:sp>
      <p:sp>
        <p:nvSpPr>
          <p:cNvPr id="3" name="Content Placeholder 2">
            <a:extLst>
              <a:ext uri="{FF2B5EF4-FFF2-40B4-BE49-F238E27FC236}">
                <a16:creationId xmlns:a16="http://schemas.microsoft.com/office/drawing/2014/main" id="{FBF91E6B-91D9-530F-6FB7-F46D194D8038}"/>
              </a:ext>
            </a:extLst>
          </p:cNvPr>
          <p:cNvSpPr>
            <a:spLocks noGrp="1"/>
          </p:cNvSpPr>
          <p:nvPr>
            <p:ph idx="1"/>
          </p:nvPr>
        </p:nvSpPr>
        <p:spPr/>
        <p:txBody>
          <a:bodyPr/>
          <a:lstStyle/>
          <a:p>
            <a:r>
              <a:rPr lang="en-IN" dirty="0"/>
              <a:t>CREATE DATABASE </a:t>
            </a:r>
            <a:r>
              <a:rPr lang="en-IN" dirty="0" err="1"/>
              <a:t>my_database</a:t>
            </a:r>
            <a:r>
              <a:rPr lang="en-IN" dirty="0"/>
              <a:t>;</a:t>
            </a:r>
          </a:p>
          <a:p>
            <a:r>
              <a:rPr lang="en-IN" dirty="0"/>
              <a:t>USE </a:t>
            </a:r>
            <a:r>
              <a:rPr lang="en-IN" dirty="0" err="1"/>
              <a:t>my_database</a:t>
            </a:r>
            <a:r>
              <a:rPr lang="en-IN" dirty="0"/>
              <a:t>;</a:t>
            </a:r>
          </a:p>
          <a:p>
            <a:r>
              <a:rPr lang="en-US" dirty="0"/>
              <a:t>CREATE TABLE users (</a:t>
            </a:r>
          </a:p>
          <a:p>
            <a:r>
              <a:rPr lang="en-US" dirty="0"/>
              <a:t>    id INT AUTO_INCREMENT PRIMARY KEY,</a:t>
            </a:r>
          </a:p>
          <a:p>
            <a:r>
              <a:rPr lang="en-US" dirty="0"/>
              <a:t>    username VARCHAR(50) NOT NULL,</a:t>
            </a:r>
          </a:p>
          <a:p>
            <a:r>
              <a:rPr lang="en-US" dirty="0"/>
              <a:t>    email VARCHAR(100) NOT NULL,</a:t>
            </a:r>
          </a:p>
          <a:p>
            <a:r>
              <a:rPr lang="en-US" dirty="0"/>
              <a:t>    </a:t>
            </a:r>
            <a:r>
              <a:rPr lang="en-US" dirty="0" err="1"/>
              <a:t>created_at</a:t>
            </a:r>
            <a:r>
              <a:rPr lang="en-US" dirty="0"/>
              <a:t> TIMESTAMP DEFAULT CURRENT_TIMESTAMP</a:t>
            </a:r>
          </a:p>
          <a:p>
            <a:r>
              <a:rPr lang="en-US" dirty="0"/>
              <a:t>);</a:t>
            </a:r>
          </a:p>
          <a:p>
            <a:endParaRPr lang="en-IN" dirty="0"/>
          </a:p>
        </p:txBody>
      </p:sp>
    </p:spTree>
    <p:extLst>
      <p:ext uri="{BB962C8B-B14F-4D97-AF65-F5344CB8AC3E}">
        <p14:creationId xmlns:p14="http://schemas.microsoft.com/office/powerpoint/2010/main" val="1135582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A5893-5AC7-859F-1A96-023CC93B97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0E5BD36-43DD-9408-2251-07B32158147A}"/>
              </a:ext>
            </a:extLst>
          </p:cNvPr>
          <p:cNvSpPr>
            <a:spLocks noGrp="1"/>
          </p:cNvSpPr>
          <p:nvPr>
            <p:ph idx="1"/>
          </p:nvPr>
        </p:nvSpPr>
        <p:spPr/>
        <p:txBody>
          <a:bodyPr/>
          <a:lstStyle/>
          <a:p>
            <a:r>
              <a:rPr lang="en-US" dirty="0"/>
              <a:t>INSERT INTO users (username, email) VALUES ('</a:t>
            </a:r>
            <a:r>
              <a:rPr lang="en-US" dirty="0" err="1"/>
              <a:t>john_doe</a:t>
            </a:r>
            <a:r>
              <a:rPr lang="en-US" dirty="0"/>
              <a:t>', 'john@example.com');</a:t>
            </a:r>
          </a:p>
          <a:p>
            <a:r>
              <a:rPr lang="en-IN" dirty="0"/>
              <a:t>SELECT * FROM users;</a:t>
            </a:r>
          </a:p>
          <a:p>
            <a:r>
              <a:rPr lang="en-US" dirty="0"/>
              <a:t>UPDATE users SET email = 'john_new@example.com' WHERE username = '</a:t>
            </a:r>
            <a:r>
              <a:rPr lang="en-US" dirty="0" err="1"/>
              <a:t>john_doe</a:t>
            </a:r>
            <a:r>
              <a:rPr lang="en-US" dirty="0"/>
              <a:t>';</a:t>
            </a:r>
          </a:p>
          <a:p>
            <a:r>
              <a:rPr lang="en-US" dirty="0"/>
              <a:t>DELETE FROM users WHERE username = '</a:t>
            </a:r>
            <a:r>
              <a:rPr lang="en-US" dirty="0" err="1"/>
              <a:t>john_doe</a:t>
            </a:r>
            <a:r>
              <a:rPr lang="en-US" dirty="0"/>
              <a:t>';</a:t>
            </a:r>
          </a:p>
          <a:p>
            <a:endParaRPr lang="en-IN" dirty="0"/>
          </a:p>
        </p:txBody>
      </p:sp>
    </p:spTree>
    <p:extLst>
      <p:ext uri="{BB962C8B-B14F-4D97-AF65-F5344CB8AC3E}">
        <p14:creationId xmlns:p14="http://schemas.microsoft.com/office/powerpoint/2010/main" val="30941438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9DFC8-1646-DB57-73F6-1E4047FABCBD}"/>
              </a:ext>
            </a:extLst>
          </p:cNvPr>
          <p:cNvSpPr>
            <a:spLocks noGrp="1"/>
          </p:cNvSpPr>
          <p:nvPr>
            <p:ph type="title"/>
          </p:nvPr>
        </p:nvSpPr>
        <p:spPr/>
        <p:txBody>
          <a:bodyPr/>
          <a:lstStyle/>
          <a:p>
            <a:r>
              <a:rPr lang="en-IN" dirty="0"/>
              <a:t>Constraint </a:t>
            </a:r>
          </a:p>
        </p:txBody>
      </p:sp>
      <p:sp>
        <p:nvSpPr>
          <p:cNvPr id="3" name="Content Placeholder 2">
            <a:extLst>
              <a:ext uri="{FF2B5EF4-FFF2-40B4-BE49-F238E27FC236}">
                <a16:creationId xmlns:a16="http://schemas.microsoft.com/office/drawing/2014/main" id="{AC79F9AC-BF2E-5572-547C-38C6D9A8F8B5}"/>
              </a:ext>
            </a:extLst>
          </p:cNvPr>
          <p:cNvSpPr>
            <a:spLocks noGrp="1"/>
          </p:cNvSpPr>
          <p:nvPr>
            <p:ph idx="1"/>
          </p:nvPr>
        </p:nvSpPr>
        <p:spPr/>
        <p:txBody>
          <a:bodyPr>
            <a:normAutofit fontScale="47500" lnSpcReduction="20000"/>
          </a:bodyPr>
          <a:lstStyle/>
          <a:p>
            <a:r>
              <a:rPr lang="en-US" dirty="0"/>
              <a:t>-- Creating a database</a:t>
            </a:r>
          </a:p>
          <a:p>
            <a:r>
              <a:rPr lang="en-US" dirty="0"/>
              <a:t>CREATE DATABASE </a:t>
            </a:r>
            <a:r>
              <a:rPr lang="en-US" dirty="0" err="1"/>
              <a:t>CompanyDB</a:t>
            </a:r>
            <a:r>
              <a:rPr lang="en-US" dirty="0"/>
              <a:t>;</a:t>
            </a:r>
          </a:p>
          <a:p>
            <a:r>
              <a:rPr lang="en-US" dirty="0"/>
              <a:t>USE </a:t>
            </a:r>
            <a:r>
              <a:rPr lang="en-US" dirty="0" err="1"/>
              <a:t>CompanyDB</a:t>
            </a:r>
            <a:r>
              <a:rPr lang="en-US" dirty="0"/>
              <a:t>;</a:t>
            </a:r>
          </a:p>
          <a:p>
            <a:endParaRPr lang="en-US" dirty="0"/>
          </a:p>
          <a:p>
            <a:r>
              <a:rPr lang="en-US" dirty="0"/>
              <a:t>-- Creating a table with constraints</a:t>
            </a:r>
          </a:p>
          <a:p>
            <a:r>
              <a:rPr lang="en-US" dirty="0"/>
              <a:t>CREATE TABLE employees (</a:t>
            </a:r>
          </a:p>
          <a:p>
            <a:r>
              <a:rPr lang="en-US" dirty="0"/>
              <a:t>    </a:t>
            </a:r>
            <a:r>
              <a:rPr lang="en-US" dirty="0" err="1"/>
              <a:t>employee_id</a:t>
            </a:r>
            <a:r>
              <a:rPr lang="en-US" dirty="0"/>
              <a:t> INT PRIMARY KEY,</a:t>
            </a:r>
          </a:p>
          <a:p>
            <a:r>
              <a:rPr lang="en-US" dirty="0"/>
              <a:t>    </a:t>
            </a:r>
            <a:r>
              <a:rPr lang="en-US" dirty="0" err="1"/>
              <a:t>first_name</a:t>
            </a:r>
            <a:r>
              <a:rPr lang="en-US" dirty="0"/>
              <a:t> VARCHAR(50) NOT NULL,</a:t>
            </a:r>
          </a:p>
          <a:p>
            <a:r>
              <a:rPr lang="en-US" dirty="0"/>
              <a:t>    </a:t>
            </a:r>
            <a:r>
              <a:rPr lang="en-US" dirty="0" err="1"/>
              <a:t>last_name</a:t>
            </a:r>
            <a:r>
              <a:rPr lang="en-US" dirty="0"/>
              <a:t> VARCHAR(50) NOT NULL,</a:t>
            </a:r>
          </a:p>
          <a:p>
            <a:r>
              <a:rPr lang="en-US" dirty="0"/>
              <a:t>    email VARCHAR(100) UNIQUE,</a:t>
            </a:r>
          </a:p>
          <a:p>
            <a:r>
              <a:rPr lang="en-US" dirty="0"/>
              <a:t>    </a:t>
            </a:r>
            <a:r>
              <a:rPr lang="en-US" dirty="0" err="1"/>
              <a:t>department_id</a:t>
            </a:r>
            <a:r>
              <a:rPr lang="en-US" dirty="0"/>
              <a:t> INT,</a:t>
            </a:r>
          </a:p>
          <a:p>
            <a:r>
              <a:rPr lang="en-US" dirty="0"/>
              <a:t>    salary DECIMAL(10, 2),</a:t>
            </a:r>
          </a:p>
          <a:p>
            <a:r>
              <a:rPr lang="en-US" dirty="0"/>
              <a:t>    </a:t>
            </a:r>
            <a:r>
              <a:rPr lang="en-US" dirty="0" err="1"/>
              <a:t>hire_date</a:t>
            </a:r>
            <a:r>
              <a:rPr lang="en-US" dirty="0"/>
              <a:t> DATE,</a:t>
            </a:r>
          </a:p>
          <a:p>
            <a:r>
              <a:rPr lang="en-US" dirty="0"/>
              <a:t>    CONSTRAINT </a:t>
            </a:r>
            <a:r>
              <a:rPr lang="en-US" dirty="0" err="1"/>
              <a:t>fk_department</a:t>
            </a:r>
            <a:r>
              <a:rPr lang="en-US" dirty="0"/>
              <a:t> FOREIGN KEY (</a:t>
            </a:r>
            <a:r>
              <a:rPr lang="en-US" dirty="0" err="1"/>
              <a:t>department_id</a:t>
            </a:r>
            <a:r>
              <a:rPr lang="en-US" dirty="0"/>
              <a:t>) REFERENCES departments(</a:t>
            </a:r>
            <a:r>
              <a:rPr lang="en-US" dirty="0" err="1"/>
              <a:t>department_id</a:t>
            </a:r>
            <a:r>
              <a:rPr lang="en-US" dirty="0"/>
              <a:t>),</a:t>
            </a:r>
          </a:p>
          <a:p>
            <a:r>
              <a:rPr lang="en-US" dirty="0"/>
              <a:t>    CONSTRAINT </a:t>
            </a:r>
            <a:r>
              <a:rPr lang="en-US" dirty="0" err="1"/>
              <a:t>chk_salary</a:t>
            </a:r>
            <a:r>
              <a:rPr lang="en-US" dirty="0"/>
              <a:t> CHECK (salary &gt; 0)</a:t>
            </a:r>
          </a:p>
          <a:p>
            <a:r>
              <a:rPr lang="en-US" dirty="0"/>
              <a:t>);</a:t>
            </a:r>
          </a:p>
          <a:p>
            <a:endParaRPr lang="en-IN" dirty="0"/>
          </a:p>
        </p:txBody>
      </p:sp>
    </p:spTree>
    <p:extLst>
      <p:ext uri="{BB962C8B-B14F-4D97-AF65-F5344CB8AC3E}">
        <p14:creationId xmlns:p14="http://schemas.microsoft.com/office/powerpoint/2010/main" val="2089153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06204-66F8-5B57-9B65-8841CD49D4CD}"/>
              </a:ext>
            </a:extLst>
          </p:cNvPr>
          <p:cNvSpPr>
            <a:spLocks noGrp="1"/>
          </p:cNvSpPr>
          <p:nvPr>
            <p:ph type="title"/>
          </p:nvPr>
        </p:nvSpPr>
        <p:spPr/>
        <p:txBody>
          <a:bodyPr/>
          <a:lstStyle/>
          <a:p>
            <a:r>
              <a:rPr lang="en-IN" dirty="0"/>
              <a:t>For the labs </a:t>
            </a:r>
          </a:p>
        </p:txBody>
      </p:sp>
      <p:sp>
        <p:nvSpPr>
          <p:cNvPr id="3" name="Content Placeholder 2">
            <a:extLst>
              <a:ext uri="{FF2B5EF4-FFF2-40B4-BE49-F238E27FC236}">
                <a16:creationId xmlns:a16="http://schemas.microsoft.com/office/drawing/2014/main" id="{F48E667E-A24D-2C14-7CB9-485E9C2A3CDA}"/>
              </a:ext>
            </a:extLst>
          </p:cNvPr>
          <p:cNvSpPr>
            <a:spLocks noGrp="1"/>
          </p:cNvSpPr>
          <p:nvPr>
            <p:ph idx="1"/>
          </p:nvPr>
        </p:nvSpPr>
        <p:spPr/>
        <p:txBody>
          <a:bodyPr/>
          <a:lstStyle/>
          <a:p>
            <a:r>
              <a:rPr lang="en-US" dirty="0"/>
              <a:t>SELECT column1, column2 FROM table_name;</a:t>
            </a:r>
          </a:p>
          <a:p>
            <a:r>
              <a:rPr lang="en-US" dirty="0"/>
              <a:t>SELECT * FROM products WHERE price BETWEEN 10 AND 50;</a:t>
            </a:r>
          </a:p>
          <a:p>
            <a:r>
              <a:rPr lang="en-US" dirty="0"/>
              <a:t>SELECT * FROM customers LIMIT 10;</a:t>
            </a:r>
          </a:p>
          <a:p>
            <a:r>
              <a:rPr lang="en-IN" dirty="0"/>
              <a:t>DESCRIBE table_name;</a:t>
            </a:r>
          </a:p>
          <a:p>
            <a:r>
              <a:rPr lang="en-US" dirty="0"/>
              <a:t>SELECT * FROM employees WHERE department = 'Sales';</a:t>
            </a:r>
          </a:p>
          <a:p>
            <a:r>
              <a:rPr lang="en-US" dirty="0"/>
              <a:t>SELECT department, COUNT(*) FROM employees GROUP BY department;</a:t>
            </a:r>
          </a:p>
          <a:p>
            <a:r>
              <a:rPr lang="en-US" dirty="0"/>
              <a:t>SELECT department, COUNT(*) FROM employees GROUP BY department HAVING COUNT(*) &gt; 5;</a:t>
            </a:r>
          </a:p>
          <a:p>
            <a:endParaRPr lang="en-IN" dirty="0"/>
          </a:p>
        </p:txBody>
      </p:sp>
    </p:spTree>
    <p:extLst>
      <p:ext uri="{BB962C8B-B14F-4D97-AF65-F5344CB8AC3E}">
        <p14:creationId xmlns:p14="http://schemas.microsoft.com/office/powerpoint/2010/main" val="1000663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5EB40-CEC1-1A68-3973-E93F4DB0DB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C20CBDF-3FEA-8D52-BFA1-C8E0BEACB3D8}"/>
              </a:ext>
            </a:extLst>
          </p:cNvPr>
          <p:cNvSpPr>
            <a:spLocks noGrp="1"/>
          </p:cNvSpPr>
          <p:nvPr>
            <p:ph idx="1"/>
          </p:nvPr>
        </p:nvSpPr>
        <p:spPr/>
        <p:txBody>
          <a:bodyPr/>
          <a:lstStyle/>
          <a:p>
            <a:r>
              <a:rPr lang="en-US" dirty="0"/>
              <a:t>INSERT INTO employees (name, age, department) VALUES ('John Doe', 30, 'IT');</a:t>
            </a:r>
          </a:p>
          <a:p>
            <a:r>
              <a:rPr lang="en-US" dirty="0"/>
              <a:t>SELECT * FROM customers ORDER BY </a:t>
            </a:r>
            <a:r>
              <a:rPr lang="en-US" dirty="0" err="1"/>
              <a:t>last_name</a:t>
            </a:r>
            <a:r>
              <a:rPr lang="en-US" dirty="0"/>
              <a:t> ASC;</a:t>
            </a:r>
          </a:p>
          <a:p>
            <a:r>
              <a:rPr lang="en-US" dirty="0"/>
              <a:t>SELECT DISTINCT department FROM employees;</a:t>
            </a:r>
          </a:p>
          <a:p>
            <a:r>
              <a:rPr lang="en-US" dirty="0"/>
              <a:t>SELECT * FROM products WHERE product_name LIKE 'Apple%';</a:t>
            </a:r>
          </a:p>
          <a:p>
            <a:endParaRPr lang="en-IN" dirty="0"/>
          </a:p>
        </p:txBody>
      </p:sp>
    </p:spTree>
    <p:extLst>
      <p:ext uri="{BB962C8B-B14F-4D97-AF65-F5344CB8AC3E}">
        <p14:creationId xmlns:p14="http://schemas.microsoft.com/office/powerpoint/2010/main" val="1310100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4F42D-6D71-B19E-FB34-22568D53196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6EB91CA-E64A-0C46-F5B4-16AB64D2BDBC}"/>
              </a:ext>
            </a:extLst>
          </p:cNvPr>
          <p:cNvSpPr>
            <a:spLocks noGrp="1"/>
          </p:cNvSpPr>
          <p:nvPr>
            <p:ph idx="1"/>
          </p:nvPr>
        </p:nvSpPr>
        <p:spPr/>
        <p:txBody>
          <a:bodyPr/>
          <a:lstStyle/>
          <a:p>
            <a:pPr algn="l"/>
            <a:r>
              <a:rPr lang="en-IN" b="1" i="0" dirty="0">
                <a:effectLst/>
                <a:latin typeface="Söhne"/>
              </a:rPr>
              <a:t>1. Inner Join:</a:t>
            </a:r>
          </a:p>
          <a:p>
            <a:br>
              <a:rPr lang="en-IN" dirty="0"/>
            </a:br>
            <a:r>
              <a:rPr lang="en-US" dirty="0"/>
              <a:t>SELECT </a:t>
            </a:r>
            <a:r>
              <a:rPr lang="en-US" dirty="0" err="1"/>
              <a:t>employees.employee_id</a:t>
            </a:r>
            <a:r>
              <a:rPr lang="en-US" dirty="0"/>
              <a:t>, </a:t>
            </a:r>
            <a:r>
              <a:rPr lang="en-US" dirty="0" err="1"/>
              <a:t>employees.first_name</a:t>
            </a:r>
            <a:r>
              <a:rPr lang="en-US" dirty="0"/>
              <a:t>, </a:t>
            </a:r>
            <a:r>
              <a:rPr lang="en-US" dirty="0" err="1"/>
              <a:t>departments.department_name</a:t>
            </a:r>
            <a:endParaRPr lang="en-US" dirty="0"/>
          </a:p>
          <a:p>
            <a:r>
              <a:rPr lang="en-US" dirty="0"/>
              <a:t>FROM employees</a:t>
            </a:r>
          </a:p>
          <a:p>
            <a:r>
              <a:rPr lang="en-US" dirty="0"/>
              <a:t>INNER JOIN departments ON </a:t>
            </a:r>
            <a:r>
              <a:rPr lang="en-US" dirty="0" err="1"/>
              <a:t>employees.department_id</a:t>
            </a:r>
            <a:r>
              <a:rPr lang="en-US" dirty="0"/>
              <a:t> = </a:t>
            </a:r>
            <a:r>
              <a:rPr lang="en-US" dirty="0" err="1"/>
              <a:t>departments.department_id</a:t>
            </a:r>
            <a:r>
              <a:rPr lang="en-US" dirty="0"/>
              <a:t>;</a:t>
            </a:r>
          </a:p>
          <a:p>
            <a:endParaRPr lang="en-IN" dirty="0"/>
          </a:p>
        </p:txBody>
      </p:sp>
    </p:spTree>
    <p:extLst>
      <p:ext uri="{BB962C8B-B14F-4D97-AF65-F5344CB8AC3E}">
        <p14:creationId xmlns:p14="http://schemas.microsoft.com/office/powerpoint/2010/main" val="25474947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2371B-72C6-ABED-2D6D-3394D0F56318}"/>
              </a:ext>
            </a:extLst>
          </p:cNvPr>
          <p:cNvSpPr>
            <a:spLocks noGrp="1"/>
          </p:cNvSpPr>
          <p:nvPr>
            <p:ph type="title"/>
          </p:nvPr>
        </p:nvSpPr>
        <p:spPr/>
        <p:txBody>
          <a:bodyPr>
            <a:normAutofit/>
          </a:bodyPr>
          <a:lstStyle/>
          <a:p>
            <a:r>
              <a:rPr lang="en-IN" b="1" i="0" dirty="0">
                <a:effectLst/>
                <a:latin typeface="Söhne"/>
              </a:rPr>
              <a:t>2. Full Outer Join:</a:t>
            </a:r>
            <a:endParaRPr lang="en-IN" dirty="0"/>
          </a:p>
        </p:txBody>
      </p:sp>
      <p:sp>
        <p:nvSpPr>
          <p:cNvPr id="3" name="Content Placeholder 2">
            <a:extLst>
              <a:ext uri="{FF2B5EF4-FFF2-40B4-BE49-F238E27FC236}">
                <a16:creationId xmlns:a16="http://schemas.microsoft.com/office/drawing/2014/main" id="{7143203A-CA01-2507-05AA-23EF13F1B4C4}"/>
              </a:ext>
            </a:extLst>
          </p:cNvPr>
          <p:cNvSpPr>
            <a:spLocks noGrp="1"/>
          </p:cNvSpPr>
          <p:nvPr>
            <p:ph idx="1"/>
          </p:nvPr>
        </p:nvSpPr>
        <p:spPr/>
        <p:txBody>
          <a:bodyPr/>
          <a:lstStyle/>
          <a:p>
            <a:r>
              <a:rPr lang="en-US" dirty="0"/>
              <a:t>SELECT </a:t>
            </a:r>
            <a:r>
              <a:rPr lang="en-US" dirty="0" err="1"/>
              <a:t>employees.employee_id</a:t>
            </a:r>
            <a:r>
              <a:rPr lang="en-US" dirty="0"/>
              <a:t>, </a:t>
            </a:r>
            <a:r>
              <a:rPr lang="en-US" dirty="0" err="1"/>
              <a:t>employees.first_name</a:t>
            </a:r>
            <a:r>
              <a:rPr lang="en-US" dirty="0"/>
              <a:t>, </a:t>
            </a:r>
            <a:r>
              <a:rPr lang="en-US" dirty="0" err="1"/>
              <a:t>departments.department_name</a:t>
            </a:r>
            <a:endParaRPr lang="en-US" dirty="0"/>
          </a:p>
          <a:p>
            <a:r>
              <a:rPr lang="en-US" dirty="0"/>
              <a:t>FROM employees</a:t>
            </a:r>
          </a:p>
          <a:p>
            <a:r>
              <a:rPr lang="en-US" dirty="0"/>
              <a:t>FULL OUTER JOIN departments ON </a:t>
            </a:r>
            <a:r>
              <a:rPr lang="en-US" dirty="0" err="1"/>
              <a:t>employees.department_id</a:t>
            </a:r>
            <a:r>
              <a:rPr lang="en-US" dirty="0"/>
              <a:t> = </a:t>
            </a:r>
            <a:r>
              <a:rPr lang="en-US" dirty="0" err="1"/>
              <a:t>departments.department_id</a:t>
            </a:r>
            <a:r>
              <a:rPr lang="en-US" dirty="0"/>
              <a:t>;</a:t>
            </a:r>
          </a:p>
          <a:p>
            <a:endParaRPr lang="en-IN" dirty="0"/>
          </a:p>
        </p:txBody>
      </p:sp>
    </p:spTree>
    <p:extLst>
      <p:ext uri="{BB962C8B-B14F-4D97-AF65-F5344CB8AC3E}">
        <p14:creationId xmlns:p14="http://schemas.microsoft.com/office/powerpoint/2010/main" val="8220380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90EBC-3D2F-DFC3-C68D-F8771E8A9156}"/>
              </a:ext>
            </a:extLst>
          </p:cNvPr>
          <p:cNvSpPr>
            <a:spLocks noGrp="1"/>
          </p:cNvSpPr>
          <p:nvPr>
            <p:ph type="title"/>
          </p:nvPr>
        </p:nvSpPr>
        <p:spPr/>
        <p:txBody>
          <a:bodyPr>
            <a:normAutofit/>
          </a:bodyPr>
          <a:lstStyle/>
          <a:p>
            <a:r>
              <a:rPr lang="en-US" b="1" i="0" dirty="0">
                <a:effectLst/>
                <a:latin typeface="Söhne"/>
              </a:rPr>
              <a:t>3. Left Join or Left Outer Join:</a:t>
            </a:r>
            <a:endParaRPr lang="en-IN" dirty="0"/>
          </a:p>
        </p:txBody>
      </p:sp>
      <p:sp>
        <p:nvSpPr>
          <p:cNvPr id="3" name="Content Placeholder 2">
            <a:extLst>
              <a:ext uri="{FF2B5EF4-FFF2-40B4-BE49-F238E27FC236}">
                <a16:creationId xmlns:a16="http://schemas.microsoft.com/office/drawing/2014/main" id="{362BB5A4-889B-FA42-149F-C56381F0765A}"/>
              </a:ext>
            </a:extLst>
          </p:cNvPr>
          <p:cNvSpPr>
            <a:spLocks noGrp="1"/>
          </p:cNvSpPr>
          <p:nvPr>
            <p:ph idx="1"/>
          </p:nvPr>
        </p:nvSpPr>
        <p:spPr/>
        <p:txBody>
          <a:bodyPr/>
          <a:lstStyle/>
          <a:p>
            <a:r>
              <a:rPr lang="en-US" dirty="0"/>
              <a:t>SELECT </a:t>
            </a:r>
            <a:r>
              <a:rPr lang="en-US" dirty="0" err="1"/>
              <a:t>employees.employee_id</a:t>
            </a:r>
            <a:r>
              <a:rPr lang="en-US" dirty="0"/>
              <a:t>, </a:t>
            </a:r>
            <a:r>
              <a:rPr lang="en-US" dirty="0" err="1"/>
              <a:t>employees.first_name</a:t>
            </a:r>
            <a:r>
              <a:rPr lang="en-US" dirty="0"/>
              <a:t>, </a:t>
            </a:r>
            <a:r>
              <a:rPr lang="en-US" dirty="0" err="1"/>
              <a:t>departments.department_name</a:t>
            </a:r>
            <a:endParaRPr lang="en-US" dirty="0"/>
          </a:p>
          <a:p>
            <a:r>
              <a:rPr lang="en-US" dirty="0"/>
              <a:t>FROM employees</a:t>
            </a:r>
          </a:p>
          <a:p>
            <a:r>
              <a:rPr lang="en-US" dirty="0"/>
              <a:t>LEFT JOIN departments ON </a:t>
            </a:r>
            <a:r>
              <a:rPr lang="en-US" dirty="0" err="1"/>
              <a:t>employees.department_id</a:t>
            </a:r>
            <a:r>
              <a:rPr lang="en-US" dirty="0"/>
              <a:t> = </a:t>
            </a:r>
            <a:r>
              <a:rPr lang="en-US" dirty="0" err="1"/>
              <a:t>departments.department_id</a:t>
            </a:r>
            <a:r>
              <a:rPr lang="en-US" dirty="0"/>
              <a:t>;</a:t>
            </a:r>
          </a:p>
          <a:p>
            <a:endParaRPr lang="en-IN" dirty="0"/>
          </a:p>
        </p:txBody>
      </p:sp>
    </p:spTree>
    <p:extLst>
      <p:ext uri="{BB962C8B-B14F-4D97-AF65-F5344CB8AC3E}">
        <p14:creationId xmlns:p14="http://schemas.microsoft.com/office/powerpoint/2010/main" val="8371549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2BD83-BA16-546C-5ABF-E5184D82302C}"/>
              </a:ext>
            </a:extLst>
          </p:cNvPr>
          <p:cNvSpPr>
            <a:spLocks noGrp="1"/>
          </p:cNvSpPr>
          <p:nvPr>
            <p:ph type="title"/>
          </p:nvPr>
        </p:nvSpPr>
        <p:spPr/>
        <p:txBody>
          <a:bodyPr>
            <a:normAutofit/>
          </a:bodyPr>
          <a:lstStyle/>
          <a:p>
            <a:r>
              <a:rPr lang="en-US" b="1" i="0" dirty="0">
                <a:effectLst/>
                <a:latin typeface="Söhne"/>
              </a:rPr>
              <a:t>4. Right Join or Right Outer Join:</a:t>
            </a:r>
            <a:endParaRPr lang="en-IN" dirty="0"/>
          </a:p>
        </p:txBody>
      </p:sp>
      <p:sp>
        <p:nvSpPr>
          <p:cNvPr id="3" name="Content Placeholder 2">
            <a:extLst>
              <a:ext uri="{FF2B5EF4-FFF2-40B4-BE49-F238E27FC236}">
                <a16:creationId xmlns:a16="http://schemas.microsoft.com/office/drawing/2014/main" id="{F3C4F998-6F6A-B8B9-D14D-80E176E970AD}"/>
              </a:ext>
            </a:extLst>
          </p:cNvPr>
          <p:cNvSpPr>
            <a:spLocks noGrp="1"/>
          </p:cNvSpPr>
          <p:nvPr>
            <p:ph idx="1"/>
          </p:nvPr>
        </p:nvSpPr>
        <p:spPr/>
        <p:txBody>
          <a:bodyPr/>
          <a:lstStyle/>
          <a:p>
            <a:r>
              <a:rPr lang="en-US" dirty="0"/>
              <a:t>SELECT </a:t>
            </a:r>
            <a:r>
              <a:rPr lang="en-US" dirty="0" err="1"/>
              <a:t>employees.employee_id</a:t>
            </a:r>
            <a:r>
              <a:rPr lang="en-US" dirty="0"/>
              <a:t>, </a:t>
            </a:r>
            <a:r>
              <a:rPr lang="en-US" dirty="0" err="1"/>
              <a:t>employees.first_name</a:t>
            </a:r>
            <a:r>
              <a:rPr lang="en-US" dirty="0"/>
              <a:t>, </a:t>
            </a:r>
            <a:r>
              <a:rPr lang="en-US" dirty="0" err="1"/>
              <a:t>departments.department_name</a:t>
            </a:r>
            <a:endParaRPr lang="en-US" dirty="0"/>
          </a:p>
          <a:p>
            <a:r>
              <a:rPr lang="en-US" dirty="0"/>
              <a:t>FROM employees</a:t>
            </a:r>
          </a:p>
          <a:p>
            <a:r>
              <a:rPr lang="en-US" dirty="0"/>
              <a:t>RIGHT JOIN departments ON </a:t>
            </a:r>
            <a:r>
              <a:rPr lang="en-US" dirty="0" err="1"/>
              <a:t>employees.department_id</a:t>
            </a:r>
            <a:r>
              <a:rPr lang="en-US" dirty="0"/>
              <a:t> = </a:t>
            </a:r>
            <a:r>
              <a:rPr lang="en-US" dirty="0" err="1"/>
              <a:t>departments.department_id</a:t>
            </a:r>
            <a:r>
              <a:rPr lang="en-US" dirty="0"/>
              <a:t>;</a:t>
            </a:r>
          </a:p>
          <a:p>
            <a:endParaRPr lang="en-IN" dirty="0"/>
          </a:p>
        </p:txBody>
      </p:sp>
    </p:spTree>
    <p:extLst>
      <p:ext uri="{BB962C8B-B14F-4D97-AF65-F5344CB8AC3E}">
        <p14:creationId xmlns:p14="http://schemas.microsoft.com/office/powerpoint/2010/main" val="683999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3DCBE-5D95-F1FA-371E-BB600607007E}"/>
              </a:ext>
            </a:extLst>
          </p:cNvPr>
          <p:cNvSpPr>
            <a:spLocks noGrp="1"/>
          </p:cNvSpPr>
          <p:nvPr>
            <p:ph type="title"/>
          </p:nvPr>
        </p:nvSpPr>
        <p:spPr/>
        <p:txBody>
          <a:bodyPr/>
          <a:lstStyle/>
          <a:p>
            <a:r>
              <a:rPr lang="en-IN" dirty="0"/>
              <a:t>Cross join</a:t>
            </a:r>
          </a:p>
        </p:txBody>
      </p:sp>
      <p:sp>
        <p:nvSpPr>
          <p:cNvPr id="3" name="Content Placeholder 2">
            <a:extLst>
              <a:ext uri="{FF2B5EF4-FFF2-40B4-BE49-F238E27FC236}">
                <a16:creationId xmlns:a16="http://schemas.microsoft.com/office/drawing/2014/main" id="{E867F232-1E7E-ADFE-DAA5-34958069BB88}"/>
              </a:ext>
            </a:extLst>
          </p:cNvPr>
          <p:cNvSpPr>
            <a:spLocks noGrp="1"/>
          </p:cNvSpPr>
          <p:nvPr>
            <p:ph idx="1"/>
          </p:nvPr>
        </p:nvSpPr>
        <p:spPr/>
        <p:txBody>
          <a:bodyPr/>
          <a:lstStyle/>
          <a:p>
            <a:r>
              <a:rPr lang="en-US" dirty="0"/>
              <a:t>SELECT </a:t>
            </a:r>
            <a:r>
              <a:rPr lang="en-US" dirty="0" err="1"/>
              <a:t>employees.employee_id</a:t>
            </a:r>
            <a:r>
              <a:rPr lang="en-US" dirty="0"/>
              <a:t>, </a:t>
            </a:r>
            <a:r>
              <a:rPr lang="en-US" dirty="0" err="1"/>
              <a:t>employees.first_name</a:t>
            </a:r>
            <a:r>
              <a:rPr lang="en-US" dirty="0"/>
              <a:t>, </a:t>
            </a:r>
            <a:r>
              <a:rPr lang="en-US" dirty="0" err="1"/>
              <a:t>departments.department_name</a:t>
            </a:r>
            <a:endParaRPr lang="en-US" dirty="0"/>
          </a:p>
          <a:p>
            <a:r>
              <a:rPr lang="en-US" dirty="0"/>
              <a:t>FROM employees</a:t>
            </a:r>
          </a:p>
          <a:p>
            <a:r>
              <a:rPr lang="en-US" dirty="0"/>
              <a:t>CROSS JOIN departments;</a:t>
            </a:r>
          </a:p>
          <a:p>
            <a:endParaRPr lang="en-IN" dirty="0"/>
          </a:p>
        </p:txBody>
      </p:sp>
    </p:spTree>
    <p:extLst>
      <p:ext uri="{BB962C8B-B14F-4D97-AF65-F5344CB8AC3E}">
        <p14:creationId xmlns:p14="http://schemas.microsoft.com/office/powerpoint/2010/main" val="29229668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C49F6-71E2-5BB3-822B-7ADAA2309A3F}"/>
              </a:ext>
            </a:extLst>
          </p:cNvPr>
          <p:cNvSpPr>
            <a:spLocks noGrp="1"/>
          </p:cNvSpPr>
          <p:nvPr>
            <p:ph type="title"/>
          </p:nvPr>
        </p:nvSpPr>
        <p:spPr/>
        <p:txBody>
          <a:bodyPr>
            <a:normAutofit/>
          </a:bodyPr>
          <a:lstStyle/>
          <a:p>
            <a:r>
              <a:rPr lang="en-IN" b="1" i="0" dirty="0">
                <a:effectLst/>
                <a:latin typeface="Söhne"/>
              </a:rPr>
              <a:t>6. Multiple Joins:</a:t>
            </a:r>
            <a:endParaRPr lang="en-IN" dirty="0"/>
          </a:p>
        </p:txBody>
      </p:sp>
      <p:sp>
        <p:nvSpPr>
          <p:cNvPr id="3" name="Content Placeholder 2">
            <a:extLst>
              <a:ext uri="{FF2B5EF4-FFF2-40B4-BE49-F238E27FC236}">
                <a16:creationId xmlns:a16="http://schemas.microsoft.com/office/drawing/2014/main" id="{A995FE49-2003-49A6-8630-464C08BCE043}"/>
              </a:ext>
            </a:extLst>
          </p:cNvPr>
          <p:cNvSpPr>
            <a:spLocks noGrp="1"/>
          </p:cNvSpPr>
          <p:nvPr>
            <p:ph idx="1"/>
          </p:nvPr>
        </p:nvSpPr>
        <p:spPr/>
        <p:txBody>
          <a:bodyPr/>
          <a:lstStyle/>
          <a:p>
            <a:r>
              <a:rPr lang="en-IN" dirty="0"/>
              <a:t>SELECT </a:t>
            </a:r>
            <a:r>
              <a:rPr lang="en-IN" dirty="0" err="1"/>
              <a:t>e.employee_id</a:t>
            </a:r>
            <a:r>
              <a:rPr lang="en-IN" dirty="0"/>
              <a:t>, </a:t>
            </a:r>
            <a:r>
              <a:rPr lang="en-IN" dirty="0" err="1"/>
              <a:t>e.first_name</a:t>
            </a:r>
            <a:r>
              <a:rPr lang="en-IN" dirty="0"/>
              <a:t>, </a:t>
            </a:r>
            <a:r>
              <a:rPr lang="en-IN" dirty="0" err="1"/>
              <a:t>d.department_name</a:t>
            </a:r>
            <a:r>
              <a:rPr lang="en-IN" dirty="0"/>
              <a:t>, </a:t>
            </a:r>
            <a:r>
              <a:rPr lang="en-IN" dirty="0" err="1"/>
              <a:t>p.project_name</a:t>
            </a:r>
            <a:endParaRPr lang="en-IN" dirty="0"/>
          </a:p>
          <a:p>
            <a:r>
              <a:rPr lang="en-IN" dirty="0"/>
              <a:t>FROM employees e</a:t>
            </a:r>
          </a:p>
          <a:p>
            <a:r>
              <a:rPr lang="en-IN" dirty="0"/>
              <a:t>INNER JOIN departments d ON </a:t>
            </a:r>
            <a:r>
              <a:rPr lang="en-IN" dirty="0" err="1"/>
              <a:t>e.department_id</a:t>
            </a:r>
            <a:r>
              <a:rPr lang="en-IN" dirty="0"/>
              <a:t> = </a:t>
            </a:r>
            <a:r>
              <a:rPr lang="en-IN" dirty="0" err="1"/>
              <a:t>d.department_id</a:t>
            </a:r>
            <a:endParaRPr lang="en-IN" dirty="0"/>
          </a:p>
          <a:p>
            <a:r>
              <a:rPr lang="en-IN" dirty="0"/>
              <a:t>INNER JOIN projects p ON </a:t>
            </a:r>
            <a:r>
              <a:rPr lang="en-IN" dirty="0" err="1"/>
              <a:t>e.employee_id</a:t>
            </a:r>
            <a:r>
              <a:rPr lang="en-IN" dirty="0"/>
              <a:t> = </a:t>
            </a:r>
            <a:r>
              <a:rPr lang="en-IN" dirty="0" err="1"/>
              <a:t>p.employee_id</a:t>
            </a:r>
            <a:r>
              <a:rPr lang="en-IN" dirty="0"/>
              <a:t>;</a:t>
            </a:r>
          </a:p>
          <a:p>
            <a:endParaRPr lang="en-IN" dirty="0"/>
          </a:p>
        </p:txBody>
      </p:sp>
    </p:spTree>
    <p:extLst>
      <p:ext uri="{BB962C8B-B14F-4D97-AF65-F5344CB8AC3E}">
        <p14:creationId xmlns:p14="http://schemas.microsoft.com/office/powerpoint/2010/main" val="1552372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1A9AD-79F0-CA71-5D82-ABDA72CD562F}"/>
              </a:ext>
            </a:extLst>
          </p:cNvPr>
          <p:cNvSpPr>
            <a:spLocks noGrp="1"/>
          </p:cNvSpPr>
          <p:nvPr>
            <p:ph type="title"/>
          </p:nvPr>
        </p:nvSpPr>
        <p:spPr/>
        <p:txBody>
          <a:bodyPr/>
          <a:lstStyle/>
          <a:p>
            <a:r>
              <a:rPr lang="en-IN" dirty="0"/>
              <a:t>SELF join </a:t>
            </a:r>
          </a:p>
        </p:txBody>
      </p:sp>
      <p:sp>
        <p:nvSpPr>
          <p:cNvPr id="3" name="Content Placeholder 2">
            <a:extLst>
              <a:ext uri="{FF2B5EF4-FFF2-40B4-BE49-F238E27FC236}">
                <a16:creationId xmlns:a16="http://schemas.microsoft.com/office/drawing/2014/main" id="{75F9820E-5F3F-FD77-BA62-17005802F348}"/>
              </a:ext>
            </a:extLst>
          </p:cNvPr>
          <p:cNvSpPr>
            <a:spLocks noGrp="1"/>
          </p:cNvSpPr>
          <p:nvPr>
            <p:ph idx="1"/>
          </p:nvPr>
        </p:nvSpPr>
        <p:spPr/>
        <p:txBody>
          <a:bodyPr>
            <a:normAutofit fontScale="92500" lnSpcReduction="20000"/>
          </a:bodyPr>
          <a:lstStyle/>
          <a:p>
            <a:r>
              <a:rPr lang="en-US" dirty="0"/>
              <a:t>CREATE TABLE employees (</a:t>
            </a:r>
          </a:p>
          <a:p>
            <a:r>
              <a:rPr lang="en-US" dirty="0"/>
              <a:t>    </a:t>
            </a:r>
            <a:r>
              <a:rPr lang="en-US" dirty="0" err="1"/>
              <a:t>employee_id</a:t>
            </a:r>
            <a:r>
              <a:rPr lang="en-US" dirty="0"/>
              <a:t> INT PRIMARY KEY,</a:t>
            </a:r>
          </a:p>
          <a:p>
            <a:r>
              <a:rPr lang="en-US" dirty="0"/>
              <a:t>    </a:t>
            </a:r>
            <a:r>
              <a:rPr lang="en-US" dirty="0" err="1"/>
              <a:t>employee_name</a:t>
            </a:r>
            <a:r>
              <a:rPr lang="en-US" dirty="0"/>
              <a:t> VARCHAR(50),</a:t>
            </a:r>
          </a:p>
          <a:p>
            <a:r>
              <a:rPr lang="en-US" dirty="0"/>
              <a:t>    </a:t>
            </a:r>
            <a:r>
              <a:rPr lang="en-US" dirty="0" err="1"/>
              <a:t>manager_id</a:t>
            </a:r>
            <a:r>
              <a:rPr lang="en-US" dirty="0"/>
              <a:t> INT</a:t>
            </a:r>
          </a:p>
          <a:p>
            <a:r>
              <a:rPr lang="en-US" dirty="0"/>
              <a:t>);</a:t>
            </a:r>
          </a:p>
          <a:p>
            <a:endParaRPr lang="en-IN" dirty="0"/>
          </a:p>
          <a:p>
            <a:endParaRPr lang="en-IN" dirty="0"/>
          </a:p>
          <a:p>
            <a:r>
              <a:rPr lang="en-US" dirty="0"/>
              <a:t>SELECT </a:t>
            </a:r>
            <a:r>
              <a:rPr lang="en-US" dirty="0" err="1"/>
              <a:t>e.employee_name</a:t>
            </a:r>
            <a:r>
              <a:rPr lang="en-US" dirty="0"/>
              <a:t> AS employee, </a:t>
            </a:r>
            <a:r>
              <a:rPr lang="en-US" dirty="0" err="1"/>
              <a:t>m.employee_name</a:t>
            </a:r>
            <a:r>
              <a:rPr lang="en-US" dirty="0"/>
              <a:t> AS manager</a:t>
            </a:r>
          </a:p>
          <a:p>
            <a:r>
              <a:rPr lang="en-US" dirty="0"/>
              <a:t>FROM employees e</a:t>
            </a:r>
          </a:p>
          <a:p>
            <a:r>
              <a:rPr lang="en-US" dirty="0"/>
              <a:t>LEFT JOIN employees m ON </a:t>
            </a:r>
            <a:r>
              <a:rPr lang="en-US" dirty="0" err="1"/>
              <a:t>e.manager_id</a:t>
            </a:r>
            <a:r>
              <a:rPr lang="en-US" dirty="0"/>
              <a:t> = </a:t>
            </a:r>
            <a:r>
              <a:rPr lang="en-US" dirty="0" err="1"/>
              <a:t>m.employee_id</a:t>
            </a:r>
            <a:r>
              <a:rPr lang="en-US" dirty="0"/>
              <a:t>;</a:t>
            </a:r>
          </a:p>
          <a:p>
            <a:endParaRPr lang="en-IN" dirty="0"/>
          </a:p>
        </p:txBody>
      </p:sp>
    </p:spTree>
    <p:extLst>
      <p:ext uri="{BB962C8B-B14F-4D97-AF65-F5344CB8AC3E}">
        <p14:creationId xmlns:p14="http://schemas.microsoft.com/office/powerpoint/2010/main" val="133345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1535</Words>
  <Application>Microsoft Office PowerPoint</Application>
  <PresentationFormat>Widescreen</PresentationFormat>
  <Paragraphs>158</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Google Sans</vt:lpstr>
      <vt:lpstr>Roboto</vt:lpstr>
      <vt:lpstr>Söhne</vt:lpstr>
      <vt:lpstr>Office Theme</vt:lpstr>
      <vt:lpstr>Data analytics</vt:lpstr>
      <vt:lpstr>Normalization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Entity relationship diagram</vt:lpstr>
      <vt:lpstr>PowerPoint Presentation</vt:lpstr>
      <vt:lpstr>PowerPoint Presentation</vt:lpstr>
      <vt:lpstr>Entity set</vt:lpstr>
      <vt:lpstr>Key attributes</vt:lpstr>
      <vt:lpstr>Relationships</vt:lpstr>
      <vt:lpstr>ER diagram</vt:lpstr>
      <vt:lpstr>PowerPoint Presentation</vt:lpstr>
      <vt:lpstr>Chat gpt tricks </vt:lpstr>
      <vt:lpstr>UML diagram</vt:lpstr>
      <vt:lpstr>PowerPoint Presentation</vt:lpstr>
      <vt:lpstr>Labs</vt:lpstr>
      <vt:lpstr>PowerPoint Presentation</vt:lpstr>
      <vt:lpstr>Constraint </vt:lpstr>
      <vt:lpstr>For the labs </vt:lpstr>
      <vt:lpstr>PowerPoint Presentation</vt:lpstr>
      <vt:lpstr>PowerPoint Presentation</vt:lpstr>
      <vt:lpstr>2. Full Outer Join:</vt:lpstr>
      <vt:lpstr>3. Left Join or Left Outer Join:</vt:lpstr>
      <vt:lpstr>4. Right Join or Right Outer Join:</vt:lpstr>
      <vt:lpstr>Cross join</vt:lpstr>
      <vt:lpstr>6. Multiple Joins:</vt:lpstr>
      <vt:lpstr>SELF join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Abhishek Kumar Singh</dc:creator>
  <cp:lastModifiedBy>Abhishek Kumar Singh</cp:lastModifiedBy>
  <cp:revision>53</cp:revision>
  <dcterms:created xsi:type="dcterms:W3CDTF">2023-11-27T00:48:54Z</dcterms:created>
  <dcterms:modified xsi:type="dcterms:W3CDTF">2023-12-04T07:23:22Z</dcterms:modified>
</cp:coreProperties>
</file>