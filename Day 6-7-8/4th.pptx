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1040E-2B74-47AE-B891-C675AFD5DF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993ACF-7F78-4411-9FB0-AA77494664ED}">
      <dgm:prSet/>
      <dgm:spPr/>
      <dgm:t>
        <a:bodyPr/>
        <a:lstStyle/>
        <a:p>
          <a:r>
            <a:rPr lang="en-IN" dirty="0"/>
            <a:t>from </a:t>
          </a:r>
          <a:endParaRPr lang="en-US" dirty="0"/>
        </a:p>
      </dgm:t>
    </dgm:pt>
    <dgm:pt modelId="{4D278B40-1413-40E6-A227-901ABBBAEA6F}" type="parTrans" cxnId="{DCFF84E5-CF7B-4509-9242-5356743A9CE1}">
      <dgm:prSet/>
      <dgm:spPr/>
      <dgm:t>
        <a:bodyPr/>
        <a:lstStyle/>
        <a:p>
          <a:endParaRPr lang="en-US"/>
        </a:p>
      </dgm:t>
    </dgm:pt>
    <dgm:pt modelId="{0AF67B9A-8239-471A-B865-06FA3F9E2D37}" type="sibTrans" cxnId="{DCFF84E5-CF7B-4509-9242-5356743A9CE1}">
      <dgm:prSet/>
      <dgm:spPr/>
      <dgm:t>
        <a:bodyPr/>
        <a:lstStyle/>
        <a:p>
          <a:endParaRPr lang="en-US"/>
        </a:p>
      </dgm:t>
    </dgm:pt>
    <dgm:pt modelId="{6B664FD5-7BFB-4AC6-8FC2-EA88572E76E4}">
      <dgm:prSet/>
      <dgm:spPr/>
      <dgm:t>
        <a:bodyPr/>
        <a:lstStyle/>
        <a:p>
          <a:r>
            <a:rPr lang="en-IN" dirty="0"/>
            <a:t>where</a:t>
          </a:r>
          <a:endParaRPr lang="en-US" dirty="0"/>
        </a:p>
      </dgm:t>
    </dgm:pt>
    <dgm:pt modelId="{DB6C66F8-6C0D-4727-A966-BC3E951966B3}" type="parTrans" cxnId="{780C1607-7BEE-458B-8417-C43534019364}">
      <dgm:prSet/>
      <dgm:spPr/>
      <dgm:t>
        <a:bodyPr/>
        <a:lstStyle/>
        <a:p>
          <a:endParaRPr lang="en-US"/>
        </a:p>
      </dgm:t>
    </dgm:pt>
    <dgm:pt modelId="{AB63926C-CF2E-40F9-BF0F-AD12B155639E}" type="sibTrans" cxnId="{780C1607-7BEE-458B-8417-C43534019364}">
      <dgm:prSet/>
      <dgm:spPr/>
      <dgm:t>
        <a:bodyPr/>
        <a:lstStyle/>
        <a:p>
          <a:endParaRPr lang="en-US"/>
        </a:p>
      </dgm:t>
    </dgm:pt>
    <dgm:pt modelId="{567A4647-D288-4A0A-A769-A32A332403A3}">
      <dgm:prSet/>
      <dgm:spPr/>
      <dgm:t>
        <a:bodyPr/>
        <a:lstStyle/>
        <a:p>
          <a:r>
            <a:rPr lang="en-IN" dirty="0"/>
            <a:t>group</a:t>
          </a:r>
          <a:endParaRPr lang="en-US" dirty="0"/>
        </a:p>
      </dgm:t>
    </dgm:pt>
    <dgm:pt modelId="{B4414E46-2035-43A5-B9EC-3DB148F6367A}" type="parTrans" cxnId="{863446F7-0AED-45D4-A785-7C9CFA5DDAB1}">
      <dgm:prSet/>
      <dgm:spPr/>
      <dgm:t>
        <a:bodyPr/>
        <a:lstStyle/>
        <a:p>
          <a:endParaRPr lang="en-US"/>
        </a:p>
      </dgm:t>
    </dgm:pt>
    <dgm:pt modelId="{BA098BC0-C231-4303-B2AE-5E19B02B2412}" type="sibTrans" cxnId="{863446F7-0AED-45D4-A785-7C9CFA5DDAB1}">
      <dgm:prSet/>
      <dgm:spPr/>
      <dgm:t>
        <a:bodyPr/>
        <a:lstStyle/>
        <a:p>
          <a:endParaRPr lang="en-US"/>
        </a:p>
      </dgm:t>
    </dgm:pt>
    <dgm:pt modelId="{890C5879-4068-431A-9829-482FEFD6720F}">
      <dgm:prSet/>
      <dgm:spPr/>
      <dgm:t>
        <a:bodyPr/>
        <a:lstStyle/>
        <a:p>
          <a:r>
            <a:rPr lang="en-IN" dirty="0"/>
            <a:t>having</a:t>
          </a:r>
          <a:endParaRPr lang="en-US" dirty="0"/>
        </a:p>
      </dgm:t>
    </dgm:pt>
    <dgm:pt modelId="{28D2F145-0F18-4A56-B165-EB44AC0EFFCC}" type="parTrans" cxnId="{1AD72628-5471-4F53-A5C7-2DDFA4D83630}">
      <dgm:prSet/>
      <dgm:spPr/>
      <dgm:t>
        <a:bodyPr/>
        <a:lstStyle/>
        <a:p>
          <a:endParaRPr lang="en-US"/>
        </a:p>
      </dgm:t>
    </dgm:pt>
    <dgm:pt modelId="{F1839A80-E911-4C47-84E9-C18FA6B0737D}" type="sibTrans" cxnId="{1AD72628-5471-4F53-A5C7-2DDFA4D83630}">
      <dgm:prSet/>
      <dgm:spPr/>
      <dgm:t>
        <a:bodyPr/>
        <a:lstStyle/>
        <a:p>
          <a:endParaRPr lang="en-US"/>
        </a:p>
      </dgm:t>
    </dgm:pt>
    <dgm:pt modelId="{53438C35-DCD9-40F9-888F-F7D9889CA98B}">
      <dgm:prSet/>
      <dgm:spPr/>
      <dgm:t>
        <a:bodyPr/>
        <a:lstStyle/>
        <a:p>
          <a:r>
            <a:rPr lang="en-IN" dirty="0"/>
            <a:t>aggregate </a:t>
          </a:r>
          <a:endParaRPr lang="en-US" dirty="0"/>
        </a:p>
      </dgm:t>
    </dgm:pt>
    <dgm:pt modelId="{5E5A73E3-9325-4A49-8E23-8148714447E6}" type="parTrans" cxnId="{C32111CD-00E4-4EB3-8509-F649C6A286BA}">
      <dgm:prSet/>
      <dgm:spPr/>
      <dgm:t>
        <a:bodyPr/>
        <a:lstStyle/>
        <a:p>
          <a:endParaRPr lang="en-US"/>
        </a:p>
      </dgm:t>
    </dgm:pt>
    <dgm:pt modelId="{771768C4-8983-4637-8959-895F777A6BE9}" type="sibTrans" cxnId="{C32111CD-00E4-4EB3-8509-F649C6A286BA}">
      <dgm:prSet/>
      <dgm:spPr/>
      <dgm:t>
        <a:bodyPr/>
        <a:lstStyle/>
        <a:p>
          <a:endParaRPr lang="en-US"/>
        </a:p>
      </dgm:t>
    </dgm:pt>
    <dgm:pt modelId="{506C671B-27E3-454B-B0B6-4066424D86EF}">
      <dgm:prSet/>
      <dgm:spPr/>
      <dgm:t>
        <a:bodyPr/>
        <a:lstStyle/>
        <a:p>
          <a:r>
            <a:rPr lang="en-IN" dirty="0"/>
            <a:t>select</a:t>
          </a:r>
          <a:endParaRPr lang="en-US" dirty="0"/>
        </a:p>
      </dgm:t>
    </dgm:pt>
    <dgm:pt modelId="{CFF849FC-53F2-4F15-AA29-B9305EDAAF37}" type="parTrans" cxnId="{A08FA393-1C36-4503-88B4-70DE9FCC6B0C}">
      <dgm:prSet/>
      <dgm:spPr/>
      <dgm:t>
        <a:bodyPr/>
        <a:lstStyle/>
        <a:p>
          <a:endParaRPr lang="en-US"/>
        </a:p>
      </dgm:t>
    </dgm:pt>
    <dgm:pt modelId="{318F0514-9524-4C39-8EC1-0C8A4A3A72C8}" type="sibTrans" cxnId="{A08FA393-1C36-4503-88B4-70DE9FCC6B0C}">
      <dgm:prSet/>
      <dgm:spPr/>
      <dgm:t>
        <a:bodyPr/>
        <a:lstStyle/>
        <a:p>
          <a:endParaRPr lang="en-US"/>
        </a:p>
      </dgm:t>
    </dgm:pt>
    <dgm:pt modelId="{B7094AC2-4E95-425A-B876-D146EF3220FF}">
      <dgm:prSet/>
      <dgm:spPr/>
      <dgm:t>
        <a:bodyPr/>
        <a:lstStyle/>
        <a:p>
          <a:r>
            <a:rPr lang="en-IN" dirty="0"/>
            <a:t>order</a:t>
          </a:r>
          <a:endParaRPr lang="en-US" dirty="0"/>
        </a:p>
      </dgm:t>
    </dgm:pt>
    <dgm:pt modelId="{CFC03203-B20A-4D2C-B89C-692B925C188B}" type="parTrans" cxnId="{3E656908-5FBD-46F3-92D8-168511F8A484}">
      <dgm:prSet/>
      <dgm:spPr/>
      <dgm:t>
        <a:bodyPr/>
        <a:lstStyle/>
        <a:p>
          <a:endParaRPr lang="en-US"/>
        </a:p>
      </dgm:t>
    </dgm:pt>
    <dgm:pt modelId="{8B78CEB0-5DD7-4490-8D91-2E5D6AC53C51}" type="sibTrans" cxnId="{3E656908-5FBD-46F3-92D8-168511F8A484}">
      <dgm:prSet/>
      <dgm:spPr/>
      <dgm:t>
        <a:bodyPr/>
        <a:lstStyle/>
        <a:p>
          <a:endParaRPr lang="en-US"/>
        </a:p>
      </dgm:t>
    </dgm:pt>
    <dgm:pt modelId="{47380213-8EA4-4DEF-A561-64235D4E5FAC}" type="pres">
      <dgm:prSet presAssocID="{1B61040E-2B74-47AE-B891-C675AFD5DFC8}" presName="linear" presStyleCnt="0">
        <dgm:presLayoutVars>
          <dgm:animLvl val="lvl"/>
          <dgm:resizeHandles val="exact"/>
        </dgm:presLayoutVars>
      </dgm:prSet>
      <dgm:spPr/>
    </dgm:pt>
    <dgm:pt modelId="{F43A41B0-31B9-4BAB-A907-0246D309E4AF}" type="pres">
      <dgm:prSet presAssocID="{25993ACF-7F78-4411-9FB0-AA77494664ED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D29B8A1-B030-4E3A-A9E8-2A150DB4763E}" type="pres">
      <dgm:prSet presAssocID="{0AF67B9A-8239-471A-B865-06FA3F9E2D37}" presName="spacer" presStyleCnt="0"/>
      <dgm:spPr/>
    </dgm:pt>
    <dgm:pt modelId="{FB471D50-11E1-4EFD-9534-5CD1FAD712E4}" type="pres">
      <dgm:prSet presAssocID="{6B664FD5-7BFB-4AC6-8FC2-EA88572E76E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19EB2DC-66EF-4429-8D31-C342F48360BB}" type="pres">
      <dgm:prSet presAssocID="{AB63926C-CF2E-40F9-BF0F-AD12B155639E}" presName="spacer" presStyleCnt="0"/>
      <dgm:spPr/>
    </dgm:pt>
    <dgm:pt modelId="{CC854A61-494C-4886-AA77-2A42734087FD}" type="pres">
      <dgm:prSet presAssocID="{567A4647-D288-4A0A-A769-A32A332403A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B97EFF5-5B30-4CB4-8D39-188D6706A89C}" type="pres">
      <dgm:prSet presAssocID="{BA098BC0-C231-4303-B2AE-5E19B02B2412}" presName="spacer" presStyleCnt="0"/>
      <dgm:spPr/>
    </dgm:pt>
    <dgm:pt modelId="{18084B76-474D-49D4-AFB2-D543A7B2394F}" type="pres">
      <dgm:prSet presAssocID="{890C5879-4068-431A-9829-482FEFD6720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6E3B027-6A96-4FED-994D-FC4D19A7F3D3}" type="pres">
      <dgm:prSet presAssocID="{F1839A80-E911-4C47-84E9-C18FA6B0737D}" presName="spacer" presStyleCnt="0"/>
      <dgm:spPr/>
    </dgm:pt>
    <dgm:pt modelId="{C6667D84-2D2B-43CB-A774-0A53FCAE8E76}" type="pres">
      <dgm:prSet presAssocID="{53438C35-DCD9-40F9-888F-F7D9889CA98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400314E-55F7-42B9-869E-07B02826B1A2}" type="pres">
      <dgm:prSet presAssocID="{771768C4-8983-4637-8959-895F777A6BE9}" presName="spacer" presStyleCnt="0"/>
      <dgm:spPr/>
    </dgm:pt>
    <dgm:pt modelId="{97AE00F5-F576-4DCF-8C8B-A4D829261A83}" type="pres">
      <dgm:prSet presAssocID="{506C671B-27E3-454B-B0B6-4066424D86E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40B17CE-AF0B-43C5-8018-BDDD663A240B}" type="pres">
      <dgm:prSet presAssocID="{318F0514-9524-4C39-8EC1-0C8A4A3A72C8}" presName="spacer" presStyleCnt="0"/>
      <dgm:spPr/>
    </dgm:pt>
    <dgm:pt modelId="{C552FA92-8D5A-47E2-94A8-89A5482685E9}" type="pres">
      <dgm:prSet presAssocID="{B7094AC2-4E95-425A-B876-D146EF3220F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80C1607-7BEE-458B-8417-C43534019364}" srcId="{1B61040E-2B74-47AE-B891-C675AFD5DFC8}" destId="{6B664FD5-7BFB-4AC6-8FC2-EA88572E76E4}" srcOrd="1" destOrd="0" parTransId="{DB6C66F8-6C0D-4727-A966-BC3E951966B3}" sibTransId="{AB63926C-CF2E-40F9-BF0F-AD12B155639E}"/>
    <dgm:cxn modelId="{3E656908-5FBD-46F3-92D8-168511F8A484}" srcId="{1B61040E-2B74-47AE-B891-C675AFD5DFC8}" destId="{B7094AC2-4E95-425A-B876-D146EF3220FF}" srcOrd="6" destOrd="0" parTransId="{CFC03203-B20A-4D2C-B89C-692B925C188B}" sibTransId="{8B78CEB0-5DD7-4490-8D91-2E5D6AC53C51}"/>
    <dgm:cxn modelId="{1AD72628-5471-4F53-A5C7-2DDFA4D83630}" srcId="{1B61040E-2B74-47AE-B891-C675AFD5DFC8}" destId="{890C5879-4068-431A-9829-482FEFD6720F}" srcOrd="3" destOrd="0" parTransId="{28D2F145-0F18-4A56-B165-EB44AC0EFFCC}" sibTransId="{F1839A80-E911-4C47-84E9-C18FA6B0737D}"/>
    <dgm:cxn modelId="{D29ADE6E-EA7B-409C-9A50-67D3C0AEF50F}" type="presOf" srcId="{6B664FD5-7BFB-4AC6-8FC2-EA88572E76E4}" destId="{FB471D50-11E1-4EFD-9534-5CD1FAD712E4}" srcOrd="0" destOrd="0" presId="urn:microsoft.com/office/officeart/2005/8/layout/vList2"/>
    <dgm:cxn modelId="{6657C752-2853-4109-BC03-F15E9E99C155}" type="presOf" srcId="{25993ACF-7F78-4411-9FB0-AA77494664ED}" destId="{F43A41B0-31B9-4BAB-A907-0246D309E4AF}" srcOrd="0" destOrd="0" presId="urn:microsoft.com/office/officeart/2005/8/layout/vList2"/>
    <dgm:cxn modelId="{7823665A-D640-44E1-B58B-74E9BB42398D}" type="presOf" srcId="{506C671B-27E3-454B-B0B6-4066424D86EF}" destId="{97AE00F5-F576-4DCF-8C8B-A4D829261A83}" srcOrd="0" destOrd="0" presId="urn:microsoft.com/office/officeart/2005/8/layout/vList2"/>
    <dgm:cxn modelId="{5C6D3F7F-854C-4C7A-9FCA-5F2C190CB963}" type="presOf" srcId="{B7094AC2-4E95-425A-B876-D146EF3220FF}" destId="{C552FA92-8D5A-47E2-94A8-89A5482685E9}" srcOrd="0" destOrd="0" presId="urn:microsoft.com/office/officeart/2005/8/layout/vList2"/>
    <dgm:cxn modelId="{1CFCCA82-3CC4-43D1-B5B1-710342E1A23A}" type="presOf" srcId="{567A4647-D288-4A0A-A769-A32A332403A3}" destId="{CC854A61-494C-4886-AA77-2A42734087FD}" srcOrd="0" destOrd="0" presId="urn:microsoft.com/office/officeart/2005/8/layout/vList2"/>
    <dgm:cxn modelId="{A08FA393-1C36-4503-88B4-70DE9FCC6B0C}" srcId="{1B61040E-2B74-47AE-B891-C675AFD5DFC8}" destId="{506C671B-27E3-454B-B0B6-4066424D86EF}" srcOrd="5" destOrd="0" parTransId="{CFF849FC-53F2-4F15-AA29-B9305EDAAF37}" sibTransId="{318F0514-9524-4C39-8EC1-0C8A4A3A72C8}"/>
    <dgm:cxn modelId="{B0EC48CA-B1BA-48D8-9B3E-F15D1EFD52BA}" type="presOf" srcId="{890C5879-4068-431A-9829-482FEFD6720F}" destId="{18084B76-474D-49D4-AFB2-D543A7B2394F}" srcOrd="0" destOrd="0" presId="urn:microsoft.com/office/officeart/2005/8/layout/vList2"/>
    <dgm:cxn modelId="{CBDE69CB-E29F-44B2-8249-E98604CA8FAD}" type="presOf" srcId="{53438C35-DCD9-40F9-888F-F7D9889CA98B}" destId="{C6667D84-2D2B-43CB-A774-0A53FCAE8E76}" srcOrd="0" destOrd="0" presId="urn:microsoft.com/office/officeart/2005/8/layout/vList2"/>
    <dgm:cxn modelId="{C32111CD-00E4-4EB3-8509-F649C6A286BA}" srcId="{1B61040E-2B74-47AE-B891-C675AFD5DFC8}" destId="{53438C35-DCD9-40F9-888F-F7D9889CA98B}" srcOrd="4" destOrd="0" parTransId="{5E5A73E3-9325-4A49-8E23-8148714447E6}" sibTransId="{771768C4-8983-4637-8959-895F777A6BE9}"/>
    <dgm:cxn modelId="{E9500BE0-FEE8-4060-B5B0-ABADBE046855}" type="presOf" srcId="{1B61040E-2B74-47AE-B891-C675AFD5DFC8}" destId="{47380213-8EA4-4DEF-A561-64235D4E5FAC}" srcOrd="0" destOrd="0" presId="urn:microsoft.com/office/officeart/2005/8/layout/vList2"/>
    <dgm:cxn modelId="{DCFF84E5-CF7B-4509-9242-5356743A9CE1}" srcId="{1B61040E-2B74-47AE-B891-C675AFD5DFC8}" destId="{25993ACF-7F78-4411-9FB0-AA77494664ED}" srcOrd="0" destOrd="0" parTransId="{4D278B40-1413-40E6-A227-901ABBBAEA6F}" sibTransId="{0AF67B9A-8239-471A-B865-06FA3F9E2D37}"/>
    <dgm:cxn modelId="{863446F7-0AED-45D4-A785-7C9CFA5DDAB1}" srcId="{1B61040E-2B74-47AE-B891-C675AFD5DFC8}" destId="{567A4647-D288-4A0A-A769-A32A332403A3}" srcOrd="2" destOrd="0" parTransId="{B4414E46-2035-43A5-B9EC-3DB148F6367A}" sibTransId="{BA098BC0-C231-4303-B2AE-5E19B02B2412}"/>
    <dgm:cxn modelId="{F8EB0022-FB85-4D80-B7E3-1805BE718996}" type="presParOf" srcId="{47380213-8EA4-4DEF-A561-64235D4E5FAC}" destId="{F43A41B0-31B9-4BAB-A907-0246D309E4AF}" srcOrd="0" destOrd="0" presId="urn:microsoft.com/office/officeart/2005/8/layout/vList2"/>
    <dgm:cxn modelId="{C313296B-C7B5-42BB-991D-20F745360465}" type="presParOf" srcId="{47380213-8EA4-4DEF-A561-64235D4E5FAC}" destId="{5D29B8A1-B030-4E3A-A9E8-2A150DB4763E}" srcOrd="1" destOrd="0" presId="urn:microsoft.com/office/officeart/2005/8/layout/vList2"/>
    <dgm:cxn modelId="{CC24F5C3-5BEB-4281-8849-0579259551AB}" type="presParOf" srcId="{47380213-8EA4-4DEF-A561-64235D4E5FAC}" destId="{FB471D50-11E1-4EFD-9534-5CD1FAD712E4}" srcOrd="2" destOrd="0" presId="urn:microsoft.com/office/officeart/2005/8/layout/vList2"/>
    <dgm:cxn modelId="{B1AF2F82-7BF2-4656-B80F-515968D98310}" type="presParOf" srcId="{47380213-8EA4-4DEF-A561-64235D4E5FAC}" destId="{E19EB2DC-66EF-4429-8D31-C342F48360BB}" srcOrd="3" destOrd="0" presId="urn:microsoft.com/office/officeart/2005/8/layout/vList2"/>
    <dgm:cxn modelId="{F7274B9D-2E9A-402B-A00A-48BFF0F880F3}" type="presParOf" srcId="{47380213-8EA4-4DEF-A561-64235D4E5FAC}" destId="{CC854A61-494C-4886-AA77-2A42734087FD}" srcOrd="4" destOrd="0" presId="urn:microsoft.com/office/officeart/2005/8/layout/vList2"/>
    <dgm:cxn modelId="{1DF7D81A-0CD0-4D30-8C5F-FC0A5FA9BCD8}" type="presParOf" srcId="{47380213-8EA4-4DEF-A561-64235D4E5FAC}" destId="{EB97EFF5-5B30-4CB4-8D39-188D6706A89C}" srcOrd="5" destOrd="0" presId="urn:microsoft.com/office/officeart/2005/8/layout/vList2"/>
    <dgm:cxn modelId="{431890C0-1084-4E02-AEC8-B93DED42260B}" type="presParOf" srcId="{47380213-8EA4-4DEF-A561-64235D4E5FAC}" destId="{18084B76-474D-49D4-AFB2-D543A7B2394F}" srcOrd="6" destOrd="0" presId="urn:microsoft.com/office/officeart/2005/8/layout/vList2"/>
    <dgm:cxn modelId="{9F8DF973-AE57-47F5-9966-CB3E2D44949D}" type="presParOf" srcId="{47380213-8EA4-4DEF-A561-64235D4E5FAC}" destId="{A6E3B027-6A96-4FED-994D-FC4D19A7F3D3}" srcOrd="7" destOrd="0" presId="urn:microsoft.com/office/officeart/2005/8/layout/vList2"/>
    <dgm:cxn modelId="{17C1843E-5040-4B24-AE8E-DFA98CA964F5}" type="presParOf" srcId="{47380213-8EA4-4DEF-A561-64235D4E5FAC}" destId="{C6667D84-2D2B-43CB-A774-0A53FCAE8E76}" srcOrd="8" destOrd="0" presId="urn:microsoft.com/office/officeart/2005/8/layout/vList2"/>
    <dgm:cxn modelId="{AC5978C3-3BC3-40A7-8865-DDDE3272B8DC}" type="presParOf" srcId="{47380213-8EA4-4DEF-A561-64235D4E5FAC}" destId="{B400314E-55F7-42B9-869E-07B02826B1A2}" srcOrd="9" destOrd="0" presId="urn:microsoft.com/office/officeart/2005/8/layout/vList2"/>
    <dgm:cxn modelId="{87A1F7EC-69B9-48FC-8FE8-4BC95E2453A1}" type="presParOf" srcId="{47380213-8EA4-4DEF-A561-64235D4E5FAC}" destId="{97AE00F5-F576-4DCF-8C8B-A4D829261A83}" srcOrd="10" destOrd="0" presId="urn:microsoft.com/office/officeart/2005/8/layout/vList2"/>
    <dgm:cxn modelId="{7A1F5234-2E8B-49B0-95E4-F7D808644171}" type="presParOf" srcId="{47380213-8EA4-4DEF-A561-64235D4E5FAC}" destId="{A40B17CE-AF0B-43C5-8018-BDDD663A240B}" srcOrd="11" destOrd="0" presId="urn:microsoft.com/office/officeart/2005/8/layout/vList2"/>
    <dgm:cxn modelId="{BDD592BA-BC90-4813-9AC3-0167A46DC125}" type="presParOf" srcId="{47380213-8EA4-4DEF-A561-64235D4E5FAC}" destId="{C552FA92-8D5A-47E2-94A8-89A5482685E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A41B0-31B9-4BAB-A907-0246D309E4AF}">
      <dsp:nvSpPr>
        <dsp:cNvPr id="0" name=""/>
        <dsp:cNvSpPr/>
      </dsp:nvSpPr>
      <dsp:spPr>
        <a:xfrm>
          <a:off x="0" y="67306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from </a:t>
          </a:r>
          <a:endParaRPr lang="en-US" sz="2900" kern="1200" dirty="0"/>
        </a:p>
      </dsp:txBody>
      <dsp:txXfrm>
        <a:off x="33955" y="101261"/>
        <a:ext cx="6195730" cy="627655"/>
      </dsp:txXfrm>
    </dsp:sp>
    <dsp:sp modelId="{FB471D50-11E1-4EFD-9534-5CD1FAD712E4}">
      <dsp:nvSpPr>
        <dsp:cNvPr id="0" name=""/>
        <dsp:cNvSpPr/>
      </dsp:nvSpPr>
      <dsp:spPr>
        <a:xfrm>
          <a:off x="0" y="846391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where</a:t>
          </a:r>
          <a:endParaRPr lang="en-US" sz="2900" kern="1200" dirty="0"/>
        </a:p>
      </dsp:txBody>
      <dsp:txXfrm>
        <a:off x="33955" y="880346"/>
        <a:ext cx="6195730" cy="627655"/>
      </dsp:txXfrm>
    </dsp:sp>
    <dsp:sp modelId="{CC854A61-494C-4886-AA77-2A42734087FD}">
      <dsp:nvSpPr>
        <dsp:cNvPr id="0" name=""/>
        <dsp:cNvSpPr/>
      </dsp:nvSpPr>
      <dsp:spPr>
        <a:xfrm>
          <a:off x="0" y="1625476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group</a:t>
          </a:r>
          <a:endParaRPr lang="en-US" sz="2900" kern="1200" dirty="0"/>
        </a:p>
      </dsp:txBody>
      <dsp:txXfrm>
        <a:off x="33955" y="1659431"/>
        <a:ext cx="6195730" cy="627655"/>
      </dsp:txXfrm>
    </dsp:sp>
    <dsp:sp modelId="{18084B76-474D-49D4-AFB2-D543A7B2394F}">
      <dsp:nvSpPr>
        <dsp:cNvPr id="0" name=""/>
        <dsp:cNvSpPr/>
      </dsp:nvSpPr>
      <dsp:spPr>
        <a:xfrm>
          <a:off x="0" y="2404561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having</a:t>
          </a:r>
          <a:endParaRPr lang="en-US" sz="2900" kern="1200" dirty="0"/>
        </a:p>
      </dsp:txBody>
      <dsp:txXfrm>
        <a:off x="33955" y="2438516"/>
        <a:ext cx="6195730" cy="627655"/>
      </dsp:txXfrm>
    </dsp:sp>
    <dsp:sp modelId="{C6667D84-2D2B-43CB-A774-0A53FCAE8E76}">
      <dsp:nvSpPr>
        <dsp:cNvPr id="0" name=""/>
        <dsp:cNvSpPr/>
      </dsp:nvSpPr>
      <dsp:spPr>
        <a:xfrm>
          <a:off x="0" y="3183646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aggregate </a:t>
          </a:r>
          <a:endParaRPr lang="en-US" sz="2900" kern="1200" dirty="0"/>
        </a:p>
      </dsp:txBody>
      <dsp:txXfrm>
        <a:off x="33955" y="3217601"/>
        <a:ext cx="6195730" cy="627655"/>
      </dsp:txXfrm>
    </dsp:sp>
    <dsp:sp modelId="{97AE00F5-F576-4DCF-8C8B-A4D829261A83}">
      <dsp:nvSpPr>
        <dsp:cNvPr id="0" name=""/>
        <dsp:cNvSpPr/>
      </dsp:nvSpPr>
      <dsp:spPr>
        <a:xfrm>
          <a:off x="0" y="3962731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select</a:t>
          </a:r>
          <a:endParaRPr lang="en-US" sz="2900" kern="1200" dirty="0"/>
        </a:p>
      </dsp:txBody>
      <dsp:txXfrm>
        <a:off x="33955" y="3996686"/>
        <a:ext cx="6195730" cy="627655"/>
      </dsp:txXfrm>
    </dsp:sp>
    <dsp:sp modelId="{C552FA92-8D5A-47E2-94A8-89A5482685E9}">
      <dsp:nvSpPr>
        <dsp:cNvPr id="0" name=""/>
        <dsp:cNvSpPr/>
      </dsp:nvSpPr>
      <dsp:spPr>
        <a:xfrm>
          <a:off x="0" y="4741816"/>
          <a:ext cx="626364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order</a:t>
          </a:r>
          <a:endParaRPr lang="en-US" sz="2900" kern="1200" dirty="0"/>
        </a:p>
      </dsp:txBody>
      <dsp:txXfrm>
        <a:off x="33955" y="4775771"/>
        <a:ext cx="6195730" cy="627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FC98-4176-B943-2329-6A5630B11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F57A1-4EA1-37E3-31BC-0E0B66E54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2F3DD-79F2-26F2-D7A6-DEEFEDDF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3031-42FA-5468-EDD8-C7A6E99F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B2C59-D247-A161-E2CD-61AB0386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9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A95D-4E4B-B455-2E9C-CB1EDDD29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8D19-DBC0-B7E6-AAA4-48B44DD52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A274E-54DC-9DBD-212C-7D19AEEE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84412-654A-EE0F-767C-3778F754A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3F03-EEB1-5403-323A-2940BFE77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3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3891-480D-F8B7-0FA9-7C2FA3AE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FD09A-E604-0A24-9DFC-CA5F212D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732A5-8750-DC7A-CE4A-FD5F8232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8FF9F-C700-CFA3-7877-E64F1BCF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AE70A-F38C-6CB7-383A-5E199474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4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326B-879B-D9FD-4E0C-FF913958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DF03-696A-E84F-5026-987392351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388EF-FE07-68E3-8B43-438134B65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43618-9293-9382-1486-BE61DE78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BD0DE-8FC0-C72F-FB9D-EB5D2985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F2525-73DE-124C-9B1B-4EEDED60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9C73-96AF-1859-BA35-801168F2E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7AB50-1194-149A-DBFE-F1F9FFAD0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9D7D8-FCFA-8651-A085-D5587423C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2D78B-3571-AFDE-073C-96591EEE5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39FF9-3675-911B-20CC-DEC7374A0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54FB7-9CFE-FA3C-ED00-D276D3EE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31840-FBFD-ED03-8EFE-8DDA64CA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A5CA2-3917-94DB-362F-50D18612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9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13D9-BCDB-8F9F-B2E3-51E97B5F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F09A2-68E3-AF2F-9DF4-371BDC12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474BC-7193-20D4-621E-A9C9C6BB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09B74-D9A5-84D3-5885-19C0AD6F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1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C4591-A6ED-D28D-1EF3-7D703694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31337-E5EE-B62A-194B-45B613B2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9EA67-893A-E9F1-3D8C-3FCC9DDC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597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17EA-A440-B3BE-3592-A88CB85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6FA21-5005-4E7B-4E00-51687E22F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2A3C7-56C2-9F08-8721-46D137C64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A66E9-129C-54EC-B0E7-4A3C9FD7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F82BA-7D75-29EE-A1FD-217BC80FE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407B8-BE13-AFE1-2851-6023F919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8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A1971-F88A-2587-5D2F-C8BF80A0E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8B69DB-FF5A-AEB2-B86E-D24807C27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CBF0E-4B8F-0B38-2AEC-54BB5DBD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7ECF7-E290-AF16-9E1F-E645F373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4C31F-E71D-BA63-B172-95D535F0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B1363-CBE8-7416-74B2-075E5A51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7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9797-F25A-F63A-48D9-8DFA09ED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9145-9845-7C97-EAB9-0B406DD7E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6C84F-AD35-2F5F-1A40-68626F80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EADE2-DD31-6E9D-FFAA-FE168EB4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F6DF8-BAF9-3C45-2DE8-4E5E7D2F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1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2A250-3134-5D30-D8F8-496D02D2B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7EC2B-C9DA-FCB4-93CD-EBCF7FACB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87580-2588-F514-AE90-4C59F6D1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EBAEF-5BA2-A8E5-9C74-2F1F1756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93A0B-75E2-7CDB-0E25-053E01FB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177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E2693-2DD6-BF5C-870E-BF633695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0D958-3782-63C8-3E9E-1C7B3915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0CD9E-A792-A82A-48B8-BCA6DC2B7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1EF8F-D2E7-489B-9D59-575B249836A3}" type="datetimeFigureOut">
              <a:rPr lang="en-IN" smtClean="0"/>
              <a:t>28-11-2023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01287-EE09-A9BE-9C1F-B1E1D72AF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14C5B-8D3A-8703-670A-D244E2370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6F9C3-6D2E-4EA1-8B8B-AA337D528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7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D5FA-A0A6-03E3-60AD-793747997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analytics Training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338B8-EA00-435B-5DAC-765C91B59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41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D384-D760-263C-E048-CA4DA0C0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AC39-68B0-3A00-88A6-85BAB6B04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3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4E6-575F-067C-822E-4B14AEA8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65D9-4C37-F86C-E63F-4515D0AC0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374151"/>
                </a:solidFill>
              </a:rPr>
              <a:t>A</a:t>
            </a:r>
            <a:r>
              <a:rPr lang="en-US" sz="2800" b="0" i="0" dirty="0">
                <a:solidFill>
                  <a:srgbClr val="374151"/>
                </a:solidFill>
                <a:effectLst/>
              </a:rPr>
              <a:t> view is a virtual table that is based on the result of a SELECT statement. </a:t>
            </a:r>
            <a:endParaRPr lang="en-IN" sz="2800" dirty="0"/>
          </a:p>
          <a:p>
            <a:endParaRPr lang="en-IN" dirty="0"/>
          </a:p>
          <a:p>
            <a:r>
              <a:rPr lang="en-US" sz="2800" b="0" i="0" dirty="0">
                <a:solidFill>
                  <a:srgbClr val="374151"/>
                </a:solidFill>
                <a:effectLst/>
              </a:rPr>
              <a:t>A view does not store data itself, but instead retrieves data from one or more tables in the database when it is accessed. </a:t>
            </a:r>
            <a:endParaRPr lang="en-IN" sz="2800" dirty="0"/>
          </a:p>
          <a:p>
            <a:endParaRPr lang="en-IN" dirty="0"/>
          </a:p>
          <a:p>
            <a:r>
              <a:rPr lang="en-IN" dirty="0"/>
              <a:t>Security</a:t>
            </a:r>
          </a:p>
          <a:p>
            <a:r>
              <a:rPr lang="en-IN" dirty="0"/>
              <a:t>Simplicity</a:t>
            </a:r>
          </a:p>
          <a:p>
            <a:r>
              <a:rPr lang="en-IN" dirty="0"/>
              <a:t>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58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451D-A503-3B86-F74C-E8264DBD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151B7-C2E5-A2CB-F212-6F43E85FC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457B5D-A69F-C138-D78C-6224D5EC4086}"/>
              </a:ext>
            </a:extLst>
          </p:cNvPr>
          <p:cNvSpPr/>
          <p:nvPr/>
        </p:nvSpPr>
        <p:spPr>
          <a:xfrm>
            <a:off x="1799303" y="3097161"/>
            <a:ext cx="3175820" cy="267437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47F763-0256-9546-B419-E0679348B727}"/>
              </a:ext>
            </a:extLst>
          </p:cNvPr>
          <p:cNvSpPr/>
          <p:nvPr/>
        </p:nvSpPr>
        <p:spPr>
          <a:xfrm>
            <a:off x="2617838" y="3714135"/>
            <a:ext cx="1538749" cy="144042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CD43094-6E13-A9C6-8115-263F1ECEF596}"/>
              </a:ext>
            </a:extLst>
          </p:cNvPr>
          <p:cNvCxnSpPr/>
          <p:nvPr/>
        </p:nvCxnSpPr>
        <p:spPr>
          <a:xfrm>
            <a:off x="4156587" y="4434347"/>
            <a:ext cx="1939413" cy="0"/>
          </a:xfrm>
          <a:prstGeom prst="straightConnector1">
            <a:avLst/>
          </a:prstGeom>
          <a:ln w="3810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218367-1F68-DF36-AB78-47525EBF1B5E}"/>
              </a:ext>
            </a:extLst>
          </p:cNvPr>
          <p:cNvCxnSpPr/>
          <p:nvPr/>
        </p:nvCxnSpPr>
        <p:spPr>
          <a:xfrm>
            <a:off x="4371667" y="3360174"/>
            <a:ext cx="1939413" cy="0"/>
          </a:xfrm>
          <a:prstGeom prst="straightConnector1">
            <a:avLst/>
          </a:prstGeom>
          <a:ln w="38100"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758BD6-5B8C-1A6A-3AFA-6EF3666EEFC9}"/>
              </a:ext>
            </a:extLst>
          </p:cNvPr>
          <p:cNvSpPr txBox="1"/>
          <p:nvPr/>
        </p:nvSpPr>
        <p:spPr>
          <a:xfrm>
            <a:off x="6145953" y="4399237"/>
            <a:ext cx="127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Inner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75369-252E-B757-9834-DDE5D20001C9}"/>
              </a:ext>
            </a:extLst>
          </p:cNvPr>
          <p:cNvSpPr txBox="1"/>
          <p:nvPr/>
        </p:nvSpPr>
        <p:spPr>
          <a:xfrm>
            <a:off x="6327414" y="3175508"/>
            <a:ext cx="1326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Outer query</a:t>
            </a:r>
          </a:p>
        </p:txBody>
      </p:sp>
    </p:spTree>
    <p:extLst>
      <p:ext uri="{BB962C8B-B14F-4D97-AF65-F5344CB8AC3E}">
        <p14:creationId xmlns:p14="http://schemas.microsoft.com/office/powerpoint/2010/main" val="97562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835D-A303-A734-4A2D-83374803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of execution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34BA-E17A-3DC1-971C-170C1D00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01F8883-FC4A-8B23-BB98-B20F3758E7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71313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0730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BF27-3E85-31C2-1950-3CDA98D7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3876E1-9DEA-F0FD-66C3-76741D1552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469736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87">
                  <a:extLst>
                    <a:ext uri="{9D8B030D-6E8A-4147-A177-3AD203B41FA5}">
                      <a16:colId xmlns:a16="http://schemas.microsoft.com/office/drawing/2014/main" val="2846287808"/>
                    </a:ext>
                  </a:extLst>
                </a:gridCol>
                <a:gridCol w="1565787">
                  <a:extLst>
                    <a:ext uri="{9D8B030D-6E8A-4147-A177-3AD203B41FA5}">
                      <a16:colId xmlns:a16="http://schemas.microsoft.com/office/drawing/2014/main" val="1486906579"/>
                    </a:ext>
                  </a:extLst>
                </a:gridCol>
                <a:gridCol w="1565787">
                  <a:extLst>
                    <a:ext uri="{9D8B030D-6E8A-4147-A177-3AD203B41FA5}">
                      <a16:colId xmlns:a16="http://schemas.microsoft.com/office/drawing/2014/main" val="263310133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dirty="0"/>
                        <a:t>Employee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14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45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Watson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88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two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83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Abhi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99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Level two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213163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4EA41B4-5078-9AA8-D54B-DAABF08AE4CE}"/>
              </a:ext>
            </a:extLst>
          </p:cNvPr>
          <p:cNvGraphicFramePr>
            <a:graphicFrameLocks noGrp="1"/>
          </p:cNvGraphicFramePr>
          <p:nvPr/>
        </p:nvGraphicFramePr>
        <p:xfrm>
          <a:off x="6322142" y="1454785"/>
          <a:ext cx="564371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743">
                  <a:extLst>
                    <a:ext uri="{9D8B030D-6E8A-4147-A177-3AD203B41FA5}">
                      <a16:colId xmlns:a16="http://schemas.microsoft.com/office/drawing/2014/main" val="766078192"/>
                    </a:ext>
                  </a:extLst>
                </a:gridCol>
                <a:gridCol w="857373">
                  <a:extLst>
                    <a:ext uri="{9D8B030D-6E8A-4147-A177-3AD203B41FA5}">
                      <a16:colId xmlns:a16="http://schemas.microsoft.com/office/drawing/2014/main" val="2735106697"/>
                    </a:ext>
                  </a:extLst>
                </a:gridCol>
                <a:gridCol w="1337187">
                  <a:extLst>
                    <a:ext uri="{9D8B030D-6E8A-4147-A177-3AD203B41FA5}">
                      <a16:colId xmlns:a16="http://schemas.microsoft.com/office/drawing/2014/main" val="1042961551"/>
                    </a:ext>
                  </a:extLst>
                </a:gridCol>
                <a:gridCol w="1191670">
                  <a:extLst>
                    <a:ext uri="{9D8B030D-6E8A-4147-A177-3AD203B41FA5}">
                      <a16:colId xmlns:a16="http://schemas.microsoft.com/office/drawing/2014/main" val="2151571266"/>
                    </a:ext>
                  </a:extLst>
                </a:gridCol>
                <a:gridCol w="1128743">
                  <a:extLst>
                    <a:ext uri="{9D8B030D-6E8A-4147-A177-3AD203B41FA5}">
                      <a16:colId xmlns:a16="http://schemas.microsoft.com/office/drawing/2014/main" val="3080620262"/>
                    </a:ext>
                  </a:extLst>
                </a:gridCol>
              </a:tblGrid>
              <a:tr h="352781">
                <a:tc gridSpan="5"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67919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 err="1"/>
                        <a:t>Prod_ID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Prod_Name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75535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364187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664746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097314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28562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817345"/>
                  </a:ext>
                </a:extLst>
              </a:tr>
              <a:tr h="352781">
                <a:tc>
                  <a:txBody>
                    <a:bodyPr/>
                    <a:lstStyle/>
                    <a:p>
                      <a:r>
                        <a:rPr lang="en-IN" dirty="0"/>
                        <a:t>M06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7762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730186-7E2A-B0B7-6F7B-FBCF5AF8DF1E}"/>
              </a:ext>
            </a:extLst>
          </p:cNvPr>
          <p:cNvSpPr txBox="1"/>
          <p:nvPr/>
        </p:nvSpPr>
        <p:spPr>
          <a:xfrm>
            <a:off x="747251" y="4896465"/>
            <a:ext cx="7511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ID, Name</a:t>
            </a:r>
          </a:p>
          <a:p>
            <a:r>
              <a:rPr lang="en-IN" dirty="0"/>
              <a:t>From Employee</a:t>
            </a:r>
          </a:p>
          <a:p>
            <a:r>
              <a:rPr lang="en-IN" dirty="0"/>
              <a:t>Where Level= ‘Level two’ And ID in (</a:t>
            </a:r>
            <a:r>
              <a:rPr lang="en-IN" dirty="0">
                <a:solidFill>
                  <a:srgbClr val="FF0000"/>
                </a:solidFill>
              </a:rPr>
              <a:t>Select ID from Products </a:t>
            </a:r>
          </a:p>
          <a:p>
            <a:r>
              <a:rPr lang="en-IN" dirty="0">
                <a:solidFill>
                  <a:srgbClr val="FF0000"/>
                </a:solidFill>
              </a:rPr>
              <a:t>		                             where amount&gt;100k and quantity&gt;20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041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9CC2-C1F2-EE17-B36C-9A0EDE3F5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3F40-EC58-188C-B00F-AA845B6A0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Select ID from Products where amount&gt;100k and quantity&gt;20</a:t>
            </a:r>
          </a:p>
          <a:p>
            <a:endParaRPr lang="en-IN" dirty="0"/>
          </a:p>
          <a:p>
            <a:r>
              <a:rPr lang="en-IN" dirty="0"/>
              <a:t>C13</a:t>
            </a:r>
          </a:p>
          <a:p>
            <a:endParaRPr lang="en-IN" dirty="0"/>
          </a:p>
          <a:p>
            <a:r>
              <a:rPr lang="en-IN" dirty="0"/>
              <a:t>Select ID, Name</a:t>
            </a:r>
          </a:p>
          <a:p>
            <a:r>
              <a:rPr lang="en-IN" dirty="0"/>
              <a:t>From Employee</a:t>
            </a:r>
          </a:p>
          <a:p>
            <a:r>
              <a:rPr lang="en-IN" dirty="0"/>
              <a:t>Where Level= ‘Level two’ And ID in c13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B31EFB-9BF9-E329-DD12-21CB3753CFD6}"/>
              </a:ext>
            </a:extLst>
          </p:cNvPr>
          <p:cNvGraphicFramePr>
            <a:graphicFrameLocks noGrp="1"/>
          </p:cNvGraphicFramePr>
          <p:nvPr/>
        </p:nvGraphicFramePr>
        <p:xfrm>
          <a:off x="4240161" y="5601212"/>
          <a:ext cx="313157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787">
                  <a:extLst>
                    <a:ext uri="{9D8B030D-6E8A-4147-A177-3AD203B41FA5}">
                      <a16:colId xmlns:a16="http://schemas.microsoft.com/office/drawing/2014/main" val="3018719152"/>
                    </a:ext>
                  </a:extLst>
                </a:gridCol>
                <a:gridCol w="1565787">
                  <a:extLst>
                    <a:ext uri="{9D8B030D-6E8A-4147-A177-3AD203B41FA5}">
                      <a16:colId xmlns:a16="http://schemas.microsoft.com/office/drawing/2014/main" val="1546529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40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04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E9F3-0092-8509-489C-8990AFC0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Window function or Analytic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69598-590E-F728-BD07-F2CEA80A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0" i="0" dirty="0">
                <a:solidFill>
                  <a:srgbClr val="374151"/>
                </a:solidFill>
                <a:effectLst/>
                <a:latin typeface="Söhne"/>
              </a:rPr>
              <a:t>A window function in SQL is a function that operates on a set of rows defined by the ORDER BY clause in a SELECT statement. </a:t>
            </a:r>
          </a:p>
          <a:p>
            <a:pPr algn="l"/>
            <a:endParaRPr lang="en-US" sz="2800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654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47E3-AF41-FA86-77D8-4982E4BA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C4E5-C5DC-0C68-6C12-93A1D54D6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Aggregate function()</a:t>
            </a:r>
          </a:p>
          <a:p>
            <a:r>
              <a:rPr lang="en-IN" dirty="0" err="1"/>
              <a:t>Row_number</a:t>
            </a:r>
            <a:r>
              <a:rPr lang="en-IN" dirty="0"/>
              <a:t>()</a:t>
            </a:r>
          </a:p>
          <a:p>
            <a:r>
              <a:rPr lang="en-IN" dirty="0"/>
              <a:t>Rank()</a:t>
            </a:r>
          </a:p>
          <a:p>
            <a:r>
              <a:rPr lang="en-IN" dirty="0" err="1"/>
              <a:t>Dense_rank</a:t>
            </a:r>
            <a:r>
              <a:rPr lang="en-IN" dirty="0"/>
              <a:t>()</a:t>
            </a:r>
          </a:p>
          <a:p>
            <a:r>
              <a:rPr lang="en-IN" dirty="0"/>
              <a:t>Lead()</a:t>
            </a:r>
          </a:p>
          <a:p>
            <a:r>
              <a:rPr lang="en-IN" dirty="0"/>
              <a:t>Lag()</a:t>
            </a:r>
          </a:p>
          <a:p>
            <a:r>
              <a:rPr lang="en-IN" dirty="0" err="1"/>
              <a:t>Cume_dist</a:t>
            </a:r>
            <a:endParaRPr lang="en-IN" dirty="0"/>
          </a:p>
          <a:p>
            <a:r>
              <a:rPr lang="en-IN" dirty="0" err="1"/>
              <a:t>Ntile</a:t>
            </a:r>
            <a:endParaRPr lang="en-IN" dirty="0"/>
          </a:p>
          <a:p>
            <a:r>
              <a:rPr lang="en-IN" dirty="0" err="1"/>
              <a:t>Nth_value</a:t>
            </a:r>
            <a:endParaRPr lang="en-IN" dirty="0"/>
          </a:p>
          <a:p>
            <a:r>
              <a:rPr lang="en-IN" dirty="0" err="1"/>
              <a:t>Percent_rank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2998-D7EF-C657-45ED-980802A1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Row_number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CF1C-B8AE-1166-B9D3-F0224BA3B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240267"/>
            <a:ext cx="6626942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select e.*,</a:t>
            </a:r>
          </a:p>
          <a:p>
            <a:pPr marL="0" indent="0">
              <a:buNone/>
            </a:pPr>
            <a:r>
              <a:rPr lang="en-IN" sz="2400" dirty="0"/>
              <a:t>row_number() over(partition by </a:t>
            </a:r>
            <a:r>
              <a:rPr lang="en-IN" sz="2400" dirty="0" err="1"/>
              <a:t>dept_name</a:t>
            </a:r>
            <a:r>
              <a:rPr lang="en-IN" sz="2400" dirty="0"/>
              <a:t>) as </a:t>
            </a:r>
            <a:r>
              <a:rPr lang="en-IN" sz="2400" dirty="0" err="1"/>
              <a:t>rn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from employee e;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A1057C-96CC-A194-2B87-7E39973261B6}"/>
              </a:ext>
            </a:extLst>
          </p:cNvPr>
          <p:cNvSpPr txBox="1">
            <a:spLocks/>
          </p:cNvSpPr>
          <p:nvPr/>
        </p:nvSpPr>
        <p:spPr>
          <a:xfrm>
            <a:off x="990600" y="1636892"/>
            <a:ext cx="4333568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select e.*,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row_number() over() as </a:t>
            </a:r>
            <a:r>
              <a:rPr lang="en-IN" sz="2400" dirty="0" err="1"/>
              <a:t>rn</a:t>
            </a: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from employee e;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30A301-CC62-4AEB-FDD5-F35FDEBC3C99}"/>
              </a:ext>
            </a:extLst>
          </p:cNvPr>
          <p:cNvSpPr txBox="1">
            <a:spLocks/>
          </p:cNvSpPr>
          <p:nvPr/>
        </p:nvSpPr>
        <p:spPr>
          <a:xfrm>
            <a:off x="990599" y="5024822"/>
            <a:ext cx="8635181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select e.*,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row_number() over(partition by </a:t>
            </a:r>
            <a:r>
              <a:rPr lang="en-IN" sz="2400" dirty="0" err="1"/>
              <a:t>dept_name</a:t>
            </a:r>
            <a:r>
              <a:rPr lang="en-IN" sz="2400" dirty="0"/>
              <a:t> order by id) as </a:t>
            </a:r>
            <a:r>
              <a:rPr lang="en-IN" sz="2400" dirty="0" err="1"/>
              <a:t>rn</a:t>
            </a: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from employee e;</a:t>
            </a:r>
          </a:p>
        </p:txBody>
      </p:sp>
    </p:spTree>
    <p:extLst>
      <p:ext uri="{BB962C8B-B14F-4D97-AF65-F5344CB8AC3E}">
        <p14:creationId xmlns:p14="http://schemas.microsoft.com/office/powerpoint/2010/main" val="67625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4471-E16A-C583-ACE5-25C67569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Top N (rank)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EC9613-32B7-F749-0E21-FE25B66F550F}"/>
              </a:ext>
            </a:extLst>
          </p:cNvPr>
          <p:cNvSpPr txBox="1">
            <a:spLocks/>
          </p:cNvSpPr>
          <p:nvPr/>
        </p:nvSpPr>
        <p:spPr>
          <a:xfrm>
            <a:off x="838200" y="2291455"/>
            <a:ext cx="10655710" cy="20052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Select * from 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select e.*,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rank() over(partition by </a:t>
            </a:r>
            <a:r>
              <a:rPr lang="en-IN" sz="2400" dirty="0" err="1"/>
              <a:t>dept_name</a:t>
            </a:r>
            <a:r>
              <a:rPr lang="en-IN" sz="2400" dirty="0"/>
              <a:t> order by id order by salary </a:t>
            </a:r>
            <a:r>
              <a:rPr lang="en-IN" sz="2400" dirty="0" err="1"/>
              <a:t>desc</a:t>
            </a:r>
            <a:r>
              <a:rPr lang="en-IN" sz="2400" dirty="0"/>
              <a:t>) as </a:t>
            </a:r>
            <a:r>
              <a:rPr lang="en-IN" sz="2400" dirty="0" err="1"/>
              <a:t>rnk</a:t>
            </a: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from employee e)  x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/>
              <a:t>Where x.rnk &lt; 4;</a:t>
            </a:r>
          </a:p>
        </p:txBody>
      </p:sp>
    </p:spTree>
    <p:extLst>
      <p:ext uri="{BB962C8B-B14F-4D97-AF65-F5344CB8AC3E}">
        <p14:creationId xmlns:p14="http://schemas.microsoft.com/office/powerpoint/2010/main" val="55311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8944-D2E0-0106-ADE2-62287B5A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Dense_rank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65436-74E8-640E-7955-8265F9898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42987" cy="1458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SELECT </a:t>
            </a:r>
            <a:r>
              <a:rPr lang="en-US" sz="2400" dirty="0" err="1"/>
              <a:t>product_name</a:t>
            </a:r>
            <a:r>
              <a:rPr lang="en-US" sz="2400" dirty="0"/>
              <a:t>, sales,</a:t>
            </a:r>
          </a:p>
          <a:p>
            <a:pPr marL="0" indent="0">
              <a:buNone/>
            </a:pPr>
            <a:r>
              <a:rPr lang="en-US" sz="2400" dirty="0"/>
              <a:t>		DENSE_RANK() OVER (ORDER BY sales DESC) AS </a:t>
            </a:r>
            <a:r>
              <a:rPr lang="en-US" sz="2400" dirty="0" err="1"/>
              <a:t>sales_rank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FROM products;</a:t>
            </a: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1931F3-1FB8-ECBD-D8B1-6A760F1ABC45}"/>
              </a:ext>
            </a:extLst>
          </p:cNvPr>
          <p:cNvGraphicFramePr>
            <a:graphicFrameLocks noGrp="1"/>
          </p:cNvGraphicFramePr>
          <p:nvPr/>
        </p:nvGraphicFramePr>
        <p:xfrm>
          <a:off x="1208999" y="3902971"/>
          <a:ext cx="497586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87930">
                  <a:extLst>
                    <a:ext uri="{9D8B030D-6E8A-4147-A177-3AD203B41FA5}">
                      <a16:colId xmlns:a16="http://schemas.microsoft.com/office/drawing/2014/main" val="3789062476"/>
                    </a:ext>
                  </a:extLst>
                </a:gridCol>
                <a:gridCol w="2487930">
                  <a:extLst>
                    <a:ext uri="{9D8B030D-6E8A-4147-A177-3AD203B41FA5}">
                      <a16:colId xmlns:a16="http://schemas.microsoft.com/office/drawing/2014/main" val="1828187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product_name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sales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8326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406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0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Product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605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13003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9DC8C5-502E-725E-8494-365D81D79CFA}"/>
              </a:ext>
            </a:extLst>
          </p:cNvPr>
          <p:cNvGraphicFramePr>
            <a:graphicFrameLocks noGrp="1"/>
          </p:cNvGraphicFramePr>
          <p:nvPr/>
        </p:nvGraphicFramePr>
        <p:xfrm>
          <a:off x="7010032" y="3902971"/>
          <a:ext cx="497586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58620">
                  <a:extLst>
                    <a:ext uri="{9D8B030D-6E8A-4147-A177-3AD203B41FA5}">
                      <a16:colId xmlns:a16="http://schemas.microsoft.com/office/drawing/2014/main" val="1010384007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1494779804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573332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product_name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sales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sales_rank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756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742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2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758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741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145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6FFA-99D9-2720-450C-93E4A449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Lag and Lead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AAE15-1E52-A6D1-0148-A2F6562AE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4535" cy="2844698"/>
          </a:xfrm>
        </p:spPr>
        <p:txBody>
          <a:bodyPr>
            <a:normAutofit/>
          </a:bodyPr>
          <a:lstStyle/>
          <a:p>
            <a:r>
              <a:rPr lang="en-IN" sz="2400" dirty="0"/>
              <a:t>Fetch a query to display if the marks of an student is higher, lower or equal to the previous employee. (Lag)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Fetch a query to display if the marks of an student is higher, lower or equal to the next employee. (Lead)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5421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EDD9-90A7-5BD7-53BB-08DBABD3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Lag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69F56-A36B-ECF9-FE83-EBA689E2EA0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SELECT name, marks,</a:t>
            </a:r>
          </a:p>
          <a:p>
            <a:pPr marL="0" indent="0">
              <a:buNone/>
            </a:pPr>
            <a:r>
              <a:rPr lang="en-US" sz="2400" dirty="0"/>
              <a:t>	 CASE </a:t>
            </a:r>
          </a:p>
          <a:p>
            <a:pPr marL="0" indent="0">
              <a:buNone/>
            </a:pPr>
            <a:r>
              <a:rPr lang="en-US" sz="2400" dirty="0"/>
              <a:t>	      WHEN marks &gt; LAG(marks) OVER (ORDER BY name) THEN 'Higher’ 	      	      WHEN marks &lt; LAG(marks) OVER (ORDER BY name) THEN 'Lower’ 	              	      ELSE 'Equal’ </a:t>
            </a:r>
          </a:p>
          <a:p>
            <a:pPr marL="0" indent="0">
              <a:buNone/>
            </a:pPr>
            <a:r>
              <a:rPr lang="en-US" sz="2400" dirty="0"/>
              <a:t>	END AS comparison </a:t>
            </a:r>
          </a:p>
          <a:p>
            <a:pPr marL="0" indent="0">
              <a:buNone/>
            </a:pPr>
            <a:r>
              <a:rPr lang="en-US" sz="2400" dirty="0"/>
              <a:t>FROM students;</a:t>
            </a:r>
            <a:endParaRPr lang="en-IN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1A1D6D-B24A-CE8A-31CA-D5B6DA8DB178}"/>
              </a:ext>
            </a:extLst>
          </p:cNvPr>
          <p:cNvGraphicFramePr>
            <a:graphicFrameLocks noGrp="1"/>
          </p:cNvGraphicFramePr>
          <p:nvPr/>
        </p:nvGraphicFramePr>
        <p:xfrm>
          <a:off x="4945257" y="4247100"/>
          <a:ext cx="497586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58620">
                  <a:extLst>
                    <a:ext uri="{9D8B030D-6E8A-4147-A177-3AD203B41FA5}">
                      <a16:colId xmlns:a16="http://schemas.microsoft.com/office/drawing/2014/main" val="424517439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57980131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4277159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marks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comparison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06926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969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50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57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9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4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EDD9-90A7-5BD7-53BB-08DBABD39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Lead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69F56-A36B-ECF9-FE83-EBA689E2EA0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SELECT name, marks,</a:t>
            </a:r>
          </a:p>
          <a:p>
            <a:pPr marL="0" indent="0">
              <a:buNone/>
            </a:pPr>
            <a:r>
              <a:rPr lang="en-US" sz="2400" dirty="0"/>
              <a:t>	 CASE </a:t>
            </a:r>
          </a:p>
          <a:p>
            <a:pPr marL="0" indent="0">
              <a:buNone/>
            </a:pPr>
            <a:r>
              <a:rPr lang="en-US" sz="2400" dirty="0"/>
              <a:t>	      WHEN marks &gt; LEAD(marks) OVER (ORDER BY name) THEN 'Higher’ 	      	      WHEN marks &lt; LEAD(marks) OVER (ORDER BY name) THEN 'Lower’ 	              	      ELSE 'Equal’ </a:t>
            </a:r>
          </a:p>
          <a:p>
            <a:pPr marL="0" indent="0">
              <a:buNone/>
            </a:pPr>
            <a:r>
              <a:rPr lang="en-US" sz="2400" dirty="0"/>
              <a:t>	END AS comparison </a:t>
            </a:r>
          </a:p>
          <a:p>
            <a:pPr marL="0" indent="0">
              <a:buNone/>
            </a:pPr>
            <a:r>
              <a:rPr lang="en-US" sz="2400" dirty="0"/>
              <a:t>FROM students;</a:t>
            </a:r>
            <a:endParaRPr lang="en-IN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27804A-CF01-954F-F49F-165E53ABBEA3}"/>
              </a:ext>
            </a:extLst>
          </p:cNvPr>
          <p:cNvGraphicFramePr>
            <a:graphicFrameLocks noGrp="1"/>
          </p:cNvGraphicFramePr>
          <p:nvPr/>
        </p:nvGraphicFramePr>
        <p:xfrm>
          <a:off x="5200896" y="4256932"/>
          <a:ext cx="497586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58620">
                  <a:extLst>
                    <a:ext uri="{9D8B030D-6E8A-4147-A177-3AD203B41FA5}">
                      <a16:colId xmlns:a16="http://schemas.microsoft.com/office/drawing/2014/main" val="1771342702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3757068026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1230265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name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marks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comparison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4204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397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490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26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Joan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084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450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250C-6D13-E53A-FD5B-0949B8EB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First value and last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19F4-CA50-62B5-1560-3C0D86CC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Most expensive product in each category (</a:t>
            </a:r>
            <a:r>
              <a:rPr lang="en-IN" sz="2400" dirty="0" err="1"/>
              <a:t>First_value</a:t>
            </a:r>
            <a:r>
              <a:rPr lang="en-IN" sz="2400" dirty="0"/>
              <a:t>)</a:t>
            </a:r>
          </a:p>
          <a:p>
            <a:r>
              <a:rPr lang="en-IN" sz="2400" dirty="0"/>
              <a:t>Least expensive product in each category (</a:t>
            </a:r>
            <a:r>
              <a:rPr lang="en-IN" sz="2400" dirty="0" err="1"/>
              <a:t>Last_value</a:t>
            </a:r>
            <a:r>
              <a:rPr lang="en-IN" sz="2400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A02F39-6FEA-6AA7-40B4-6389CEBDF5BE}"/>
              </a:ext>
            </a:extLst>
          </p:cNvPr>
          <p:cNvGraphicFramePr>
            <a:graphicFrameLocks noGrp="1"/>
          </p:cNvGraphicFramePr>
          <p:nvPr/>
        </p:nvGraphicFramePr>
        <p:xfrm>
          <a:off x="943528" y="3601284"/>
          <a:ext cx="4975860" cy="1828800"/>
        </p:xfrm>
        <a:graphic>
          <a:graphicData uri="http://schemas.openxmlformats.org/drawingml/2006/table">
            <a:tbl>
              <a:tblPr/>
              <a:tblGrid>
                <a:gridCol w="1658620">
                  <a:extLst>
                    <a:ext uri="{9D8B030D-6E8A-4147-A177-3AD203B41FA5}">
                      <a16:colId xmlns:a16="http://schemas.microsoft.com/office/drawing/2014/main" val="2717499467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644498504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17596712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 dirty="0">
                          <a:effectLst/>
                        </a:rPr>
                        <a:t>product_name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category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price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51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911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150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09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C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200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77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300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270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58BE4C-51AE-5C2C-009D-742B0EFC8726}"/>
              </a:ext>
            </a:extLst>
          </p:cNvPr>
          <p:cNvGraphicFramePr>
            <a:graphicFrameLocks noGrp="1"/>
          </p:cNvGraphicFramePr>
          <p:nvPr/>
        </p:nvGraphicFramePr>
        <p:xfrm>
          <a:off x="7088690" y="3418404"/>
          <a:ext cx="4975860" cy="1097280"/>
        </p:xfrm>
        <a:graphic>
          <a:graphicData uri="http://schemas.openxmlformats.org/drawingml/2006/table">
            <a:tbl>
              <a:tblPr/>
              <a:tblGrid>
                <a:gridCol w="1658620">
                  <a:extLst>
                    <a:ext uri="{9D8B030D-6E8A-4147-A177-3AD203B41FA5}">
                      <a16:colId xmlns:a16="http://schemas.microsoft.com/office/drawing/2014/main" val="2521653452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3406286126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1482987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product_name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category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price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62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150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65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300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941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98FFE7-EBF6-55CC-34A1-33DD3E896CAB}"/>
              </a:ext>
            </a:extLst>
          </p:cNvPr>
          <p:cNvGraphicFramePr>
            <a:graphicFrameLocks noGrp="1"/>
          </p:cNvGraphicFramePr>
          <p:nvPr/>
        </p:nvGraphicFramePr>
        <p:xfrm>
          <a:off x="7088690" y="5011183"/>
          <a:ext cx="4975860" cy="1097280"/>
        </p:xfrm>
        <a:graphic>
          <a:graphicData uri="http://schemas.openxmlformats.org/drawingml/2006/table">
            <a:tbl>
              <a:tblPr/>
              <a:tblGrid>
                <a:gridCol w="1658620">
                  <a:extLst>
                    <a:ext uri="{9D8B030D-6E8A-4147-A177-3AD203B41FA5}">
                      <a16:colId xmlns:a16="http://schemas.microsoft.com/office/drawing/2014/main" val="2521653452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3406286126"/>
                    </a:ext>
                  </a:extLst>
                </a:gridCol>
                <a:gridCol w="1658620">
                  <a:extLst>
                    <a:ext uri="{9D8B030D-6E8A-4147-A177-3AD203B41FA5}">
                      <a16:colId xmlns:a16="http://schemas.microsoft.com/office/drawing/2014/main" val="1482987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product_name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category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IN" b="1">
                          <a:effectLst/>
                        </a:rPr>
                        <a:t>price</a:t>
                      </a:r>
                    </a:p>
                  </a:txBody>
                  <a:tcPr anchor="b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62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1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100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65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Product D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>
                          <a:effectLst/>
                        </a:rPr>
                        <a:t>Category 2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IN" dirty="0">
                          <a:effectLst/>
                        </a:rPr>
                        <a:t>200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94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683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250C-6D13-E53A-FD5B-0949B8EB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Nth_value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19F4-CA50-62B5-1560-3C0D86CC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Second most expensive products in each category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59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9DB8-4789-C06F-5F23-72F4AB0B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592FA-36AE-10E3-5AC4-54FABFC19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Stored procedures allow you to group several SQL statements and procedural logic into a single unit that can be called and executed multiple times.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985E6CD8-8841-C0CB-6416-61C59E33B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095" y="2873827"/>
            <a:ext cx="6723809" cy="3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34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79AD-B811-7712-0536-978EC7BE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Why it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51BF-2728-BC01-79CD-DF580F728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It is mostly used for repetitive tasks such as 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inserting, updating, or deleting data, generating reports, or performing calculations.</a:t>
            </a:r>
          </a:p>
          <a:p>
            <a:endParaRPr lang="en-US" sz="2400" dirty="0">
              <a:solidFill>
                <a:srgbClr val="374151"/>
              </a:solidFill>
              <a:latin typeface="Söhne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By encapsulating these operations in a stored procedure, </a:t>
            </a:r>
          </a:p>
          <a:p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you can improve database performance,</a:t>
            </a:r>
          </a:p>
          <a:p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reduce network traffic,</a:t>
            </a:r>
          </a:p>
          <a:p>
            <a:r>
              <a:rPr lang="en-US" sz="2400" b="0" i="0" dirty="0">
                <a:solidFill>
                  <a:srgbClr val="374151"/>
                </a:solidFill>
                <a:effectLst/>
                <a:latin typeface="Söhne"/>
              </a:rPr>
              <a:t>enhance security by controlling access to the database.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6340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250C-6D13-E53A-FD5B-0949B8EB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19F4-CA50-62B5-1560-3C0D86CC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549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250C-6D13-E53A-FD5B-0949B8EB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19F4-CA50-62B5-1560-3C0D86CC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807</Words>
  <Application>Microsoft Office PowerPoint</Application>
  <PresentationFormat>Widescreen</PresentationFormat>
  <Paragraphs>240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Abadi</vt:lpstr>
      <vt:lpstr>Arial</vt:lpstr>
      <vt:lpstr>Calibri</vt:lpstr>
      <vt:lpstr>Calibri Light</vt:lpstr>
      <vt:lpstr>Söhne</vt:lpstr>
      <vt:lpstr>Office Theme</vt:lpstr>
      <vt:lpstr>Data analytics Training </vt:lpstr>
      <vt:lpstr>Labs</vt:lpstr>
      <vt:lpstr>Views </vt:lpstr>
      <vt:lpstr>Nested queries</vt:lpstr>
      <vt:lpstr>Flow of execution </vt:lpstr>
      <vt:lpstr>Example</vt:lpstr>
      <vt:lpstr>PowerPoint Presentation</vt:lpstr>
      <vt:lpstr>Window function or Analytic function</vt:lpstr>
      <vt:lpstr>PowerPoint Presentation</vt:lpstr>
      <vt:lpstr>Row_number</vt:lpstr>
      <vt:lpstr>Top N (rank)</vt:lpstr>
      <vt:lpstr>Dense_rank</vt:lpstr>
      <vt:lpstr>Lag and Lead</vt:lpstr>
      <vt:lpstr>Lag</vt:lpstr>
      <vt:lpstr>Lead</vt:lpstr>
      <vt:lpstr>First value and last value</vt:lpstr>
      <vt:lpstr>Nth_value</vt:lpstr>
      <vt:lpstr>Stored procedure</vt:lpstr>
      <vt:lpstr>Why it is used</vt:lpstr>
      <vt:lpstr>Database optimization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Training </dc:title>
  <dc:creator>Abhishek Kumar Singh</dc:creator>
  <cp:lastModifiedBy>Abhishek Kumar Singh</cp:lastModifiedBy>
  <cp:revision>12</cp:revision>
  <dcterms:created xsi:type="dcterms:W3CDTF">2023-11-28T01:50:44Z</dcterms:created>
  <dcterms:modified xsi:type="dcterms:W3CDTF">2023-11-28T01:56:35Z</dcterms:modified>
</cp:coreProperties>
</file>